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7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364"/>
    <p:restoredTop sz="94626"/>
  </p:normalViewPr>
  <p:slideViewPr>
    <p:cSldViewPr snapToGrid="0">
      <p:cViewPr varScale="1">
        <p:scale>
          <a:sx n="50" d="100"/>
          <a:sy n="50" d="100"/>
        </p:scale>
        <p:origin x="168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User-supplied draft image: /var/folders/c2/y83wcw894j1d5bv4_lhqmvg80000gn/T/codex-clipboard-88b3fa5c-b68e-4727-aa7e-c4829fe38271.png</a:t>
            </a:r>
          </a:p>
          <a:p>
            <a:r>
              <a:t>- Edited cover asset: /Users/melee/Documents/ChatGPT/Ordr/output/한끼패스_assets/01_한끼패스_표지.png — built-in ImageGen text-localization edit; only ‘Prepped’ replaced with exact text ‘한끼패스’.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/Users/melee/Documents/ChatGPT/Ordr/README.md — ‘왜 Prepped인가요?’ problem statement and product principle.</a:t>
            </a:r>
          </a:p>
          <a:p>
            <a:r>
              <a:t>- /Users/melee/Documents/ChatGPT/Ordr/output/한끼패스_assets/02_키오스크_문제.png — built-in ImageGen supporting visual, generated from the user image as a style reference; no readable text or logos.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/Users/melee/Documents/ChatGPT/Ordr/README.md — stakeholder value table for senior users, family, and brand/kiosk operators.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/Users/melee/Documents/ChatGPT/</a:t>
            </a:r>
            <a:r>
              <a:rPr dirty="0" err="1"/>
              <a:t>Ordr</a:t>
            </a:r>
            <a:r>
              <a:rPr dirty="0"/>
              <a:t>/</a:t>
            </a:r>
            <a:r>
              <a:rPr dirty="0" err="1"/>
              <a:t>README.md</a:t>
            </a:r>
            <a:r>
              <a:rPr dirty="0"/>
              <a:t> — core proposition: prepare repeated menu selections before arriving at the kiosk to reduce on-site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/Users/melee/Documents/ChatGPT/Ordr/README.md — ‘이렇게 사용합니다’ four-step flow and current MVP boundary.</a:t>
            </a:r>
          </a:p>
          <a:p>
            <a:r>
              <a:t>- /Users/melee/Documents/ChatGPT/Ordr/docs/technical-specification.md — mobile selection, QR generation, kiosk scan, payload parsing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E61B2-59B6-358A-E08C-F3EC501DA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9119C2-4B2F-CC5B-3D58-78FAC760D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146C8D-3918-32ED-4BFD-C8895E684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데모에서는</a:t>
            </a:r>
            <a:r>
              <a:rPr dirty="0"/>
              <a:t> </a:t>
            </a:r>
            <a:r>
              <a:rPr dirty="0" err="1"/>
              <a:t>먼저</a:t>
            </a:r>
            <a:r>
              <a:t> User </a:t>
            </a:r>
            <a:r>
              <a:rPr dirty="0" err="1"/>
              <a:t>App에서</a:t>
            </a:r>
            <a:r>
              <a:rPr dirty="0"/>
              <a:t> </a:t>
            </a:r>
            <a:r>
              <a:rPr dirty="0" err="1"/>
              <a:t>QR이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표시되는</a:t>
            </a:r>
            <a:r>
              <a:rPr dirty="0"/>
              <a:t> </a:t>
            </a:r>
            <a:r>
              <a:rPr dirty="0" err="1"/>
              <a:t>화면을</a:t>
            </a:r>
            <a:r>
              <a:rPr dirty="0"/>
              <a:t> </a:t>
            </a:r>
            <a:r>
              <a:rPr dirty="0" err="1"/>
              <a:t>보여줍니다</a:t>
            </a:r>
            <a:r>
              <a:rPr dirty="0"/>
              <a:t>.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QR을</a:t>
            </a:r>
            <a:r>
              <a:rPr dirty="0"/>
              <a:t> Brand A </a:t>
            </a:r>
            <a:r>
              <a:rPr dirty="0" err="1"/>
              <a:t>키오스크에</a:t>
            </a:r>
            <a:r>
              <a:rPr dirty="0"/>
              <a:t> </a:t>
            </a:r>
            <a:r>
              <a:rPr dirty="0" err="1"/>
              <a:t>스캔하면</a:t>
            </a:r>
            <a:r>
              <a:rPr dirty="0"/>
              <a:t> </a:t>
            </a:r>
            <a:r>
              <a:rPr dirty="0" err="1"/>
              <a:t>A에</a:t>
            </a:r>
            <a:r>
              <a:rPr dirty="0"/>
              <a:t> </a:t>
            </a:r>
            <a:r>
              <a:rPr dirty="0" err="1"/>
              <a:t>저장된</a:t>
            </a:r>
            <a:r>
              <a:rPr dirty="0"/>
              <a:t> </a:t>
            </a:r>
            <a:r>
              <a:rPr dirty="0" err="1"/>
              <a:t>메뉴가</a:t>
            </a:r>
            <a:r>
              <a:rPr dirty="0"/>
              <a:t>, Brand </a:t>
            </a:r>
            <a:r>
              <a:rPr dirty="0" err="1"/>
              <a:t>B에</a:t>
            </a:r>
            <a:r>
              <a:rPr dirty="0"/>
              <a:t> </a:t>
            </a:r>
            <a:r>
              <a:rPr dirty="0" err="1"/>
              <a:t>스캔하면</a:t>
            </a:r>
            <a:r>
              <a:rPr dirty="0"/>
              <a:t> </a:t>
            </a:r>
            <a:r>
              <a:rPr dirty="0" err="1"/>
              <a:t>B의</a:t>
            </a:r>
            <a:r>
              <a:rPr dirty="0"/>
              <a:t> </a:t>
            </a:r>
            <a:r>
              <a:rPr dirty="0" err="1"/>
              <a:t>메뉴가</a:t>
            </a:r>
            <a:r>
              <a:rPr dirty="0"/>
              <a:t> </a:t>
            </a:r>
            <a:r>
              <a:rPr dirty="0" err="1"/>
              <a:t>호출됩니다</a:t>
            </a:r>
            <a:r>
              <a:rPr dirty="0"/>
              <a:t>.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세</a:t>
            </a:r>
            <a:r>
              <a:rPr dirty="0"/>
              <a:t> </a:t>
            </a:r>
            <a:r>
              <a:rPr dirty="0" err="1"/>
              <a:t>영역은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구현</a:t>
            </a:r>
            <a:r>
              <a:rPr dirty="0"/>
              <a:t> </a:t>
            </a:r>
            <a:r>
              <a:rPr dirty="0" err="1"/>
              <a:t>화면으로</a:t>
            </a:r>
            <a:r>
              <a:rPr dirty="0"/>
              <a:t> </a:t>
            </a:r>
            <a:r>
              <a:rPr dirty="0" err="1"/>
              <a:t>교체할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있게</a:t>
            </a:r>
            <a:r>
              <a:rPr dirty="0"/>
              <a:t> </a:t>
            </a:r>
            <a:r>
              <a:rPr dirty="0" err="1"/>
              <a:t>비워</a:t>
            </a:r>
            <a:r>
              <a:rPr dirty="0"/>
              <a:t> </a:t>
            </a:r>
            <a:r>
              <a:rPr dirty="0" err="1"/>
              <a:t>두었습니다</a:t>
            </a:r>
            <a:r>
              <a:rPr dirty="0"/>
              <a:t>. </a:t>
            </a:r>
            <a:r>
              <a:rPr dirty="0" err="1"/>
              <a:t>발표에서는</a:t>
            </a:r>
            <a:r>
              <a:rPr dirty="0"/>
              <a:t> QR이 </a:t>
            </a:r>
            <a:r>
              <a:rPr dirty="0" err="1"/>
              <a:t>브랜드별로</a:t>
            </a:r>
            <a:r>
              <a:rPr dirty="0"/>
              <a:t> </a:t>
            </a:r>
            <a:r>
              <a:rPr dirty="0" err="1"/>
              <a:t>달라지는</a:t>
            </a:r>
            <a:r>
              <a:rPr dirty="0"/>
              <a:t> </a:t>
            </a:r>
            <a:r>
              <a:rPr dirty="0" err="1"/>
              <a:t>것이</a:t>
            </a:r>
            <a:r>
              <a:rPr dirty="0"/>
              <a:t> </a:t>
            </a:r>
            <a:r>
              <a:rPr dirty="0" err="1"/>
              <a:t>아니라는</a:t>
            </a:r>
            <a:r>
              <a:rPr dirty="0"/>
              <a:t> </a:t>
            </a:r>
            <a:r>
              <a:rPr dirty="0" err="1"/>
              <a:t>점을</a:t>
            </a:r>
            <a:r>
              <a:rPr dirty="0"/>
              <a:t> </a:t>
            </a:r>
            <a:r>
              <a:rPr dirty="0" err="1"/>
              <a:t>강조합니다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sunghyeonum</a:t>
            </a:r>
            <a:r>
              <a:rPr dirty="0"/>
              <a:t>/Downloads/5fb45ec7-7dbc-4d84-8b4b-54ae6d458dc9_기획서_v2.pdf — pp.4-6, One Person → One QR → Multiple Brands and MVP demo sequence.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A377F-8356-C29E-922D-2F950447CA5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7757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/Users/melee/Documents/ChatGPT/Ordr/README.md — core proposition: prepare repeated menu selections before arriving at the kiosk to reduce on-site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 시나리오의 월 경제적 가치는 주문 포기 감소 210,000원, 직원 지원시간 감소 61,920원, 피크타임 처리량 증가 75,833원의 합입니다. 브랜드 잔존가치는 347,753원-70,000원=277,753원이며, 한끼패스 공헌이익은 70,000원-20,000원=50,000원입니다. 모든 수치는 파일럿 검증 전 가정치입니다.</a:t>
            </a:r>
          </a:p>
          <a:p>
            <a:endParaRPr/>
          </a:p>
          <a:p>
            <a:r>
              <a:t>[Sources]</a:t>
            </a:r>
          </a:p>
          <a:p>
            <a:r>
              <a:t>- 사용자 제공 그래프 및 수익성 표</a:t>
            </a:r>
          </a:p>
          <a:p>
            <a:r>
              <a:t>- 기획서_v2.pdf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/Users/melee/Documents/ChatGPT/Ordr/README.md — architecture, QR data contract, local-only state, privacy/security boundaries.</a:t>
            </a:r>
          </a:p>
          <a:p>
            <a:r>
              <a:t>- /Users/melee/Documents/ChatGPT/Ordr/docs/technical-specification.md — serializer/parser contract and future API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/Users/melee/Documents/ChatGPT/Ordr/README.md — stakeholder value table for senior users, family, and brand/kiosk operators.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rcRect t="7813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428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190500" y="0"/>
            <a:ext cx="12192000" cy="6858000"/>
          </a:xfrm>
          <a:prstGeom prst="rect">
            <a:avLst/>
          </a:prstGeom>
        </p:spPr>
      </p:pic>
      <p:sp>
        <p:nvSpPr>
          <p:cNvPr id="2" name="problem-eyebrow">
            <a:extLst>
              <a:ext uri="{FF2B5EF4-FFF2-40B4-BE49-F238E27FC236}">
                <a16:creationId xmlns:a16="http://schemas.microsoft.com/office/drawing/2014/main" id="{3DA38946-3949-463F-9EC2-3A0FB05E03BC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07B57"/>
                </a:solidFill>
                <a:latin typeface="Pretendard"/>
                <a:ea typeface="Pretendard"/>
                <a:cs typeface="Pretendard"/>
              </a:defRPr>
            </a:pPr>
            <a:r>
              <a:rPr sz="2400" b="1" dirty="0">
                <a:solidFill>
                  <a:srgbClr val="F07B57"/>
                </a:solidFill>
                <a:latin typeface="Pretendard"/>
                <a:ea typeface="Pretendard"/>
                <a:cs typeface="Pretendard"/>
              </a:rPr>
              <a:t>Problem</a:t>
            </a:r>
          </a:p>
        </p:txBody>
      </p:sp>
      <p:sp>
        <p:nvSpPr>
          <p:cNvPr id="3" name="problem-title">
            <a:extLst>
              <a:ext uri="{FF2B5EF4-FFF2-40B4-BE49-F238E27FC236}">
                <a16:creationId xmlns:a16="http://schemas.microsoft.com/office/drawing/2014/main" id="{1A377E5D-5FB4-4D61-BF10-AE61B8AAA1CB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50958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4000"/>
              </a:lnSpc>
              <a:buNone/>
              <a:defRPr sz="2850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endParaRPr sz="2850" b="1" dirty="0">
              <a:solidFill>
                <a:srgbClr val="123F3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problem-body">
            <a:extLst>
              <a:ext uri="{FF2B5EF4-FFF2-40B4-BE49-F238E27FC236}">
                <a16:creationId xmlns:a16="http://schemas.microsoft.com/office/drawing/2014/main" id="{B1D6B5B5-8B54-48EF-BF00-B064B4E8F7EE}"/>
              </a:ext>
            </a:extLst>
          </p:cNvPr>
          <p:cNvSpPr>
            <a:spLocks noGrp="1"/>
          </p:cNvSpPr>
          <p:nvPr/>
        </p:nvSpPr>
        <p:spPr>
          <a:xfrm>
            <a:off x="685800" y="2857499"/>
            <a:ext cx="5238750" cy="14287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800" b="0">
                <a:solidFill>
                  <a:srgbClr val="17362D"/>
                </a:solidFill>
                <a:latin typeface="Pretendard"/>
                <a:ea typeface="Pretendard"/>
                <a:cs typeface="Pretendard"/>
              </a:defRPr>
            </a:pPr>
            <a:r>
              <a:rPr b="0" dirty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2023년 </a:t>
            </a:r>
            <a:r>
              <a:rPr b="0" dirty="0" err="1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키오스크</a:t>
            </a:r>
            <a:r>
              <a:rPr b="0" dirty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 53만 6,602대.</a:t>
            </a:r>
          </a:p>
          <a:p>
            <a:pPr>
              <a:lnSpc>
                <a:spcPct val="115000"/>
              </a:lnSpc>
              <a:defRPr sz="1800" b="0">
                <a:solidFill>
                  <a:srgbClr val="17362D"/>
                </a:solidFill>
                <a:latin typeface="Pretendard"/>
                <a:ea typeface="Pretendard"/>
                <a:cs typeface="Pretendard"/>
              </a:defRPr>
            </a:pPr>
            <a:r>
              <a:rPr b="0" dirty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75세 </a:t>
            </a:r>
            <a:r>
              <a:rPr b="0" dirty="0" err="1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이상</a:t>
            </a:r>
            <a:r>
              <a:rPr b="0" dirty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b="0" dirty="0" err="1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이용자의</a:t>
            </a:r>
            <a:r>
              <a:rPr b="0" dirty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 76.6%가 </a:t>
            </a:r>
            <a:r>
              <a:rPr b="0" dirty="0" err="1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불편을</a:t>
            </a:r>
            <a:r>
              <a:rPr b="0" dirty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b="0" dirty="0" err="1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경험했습니다</a:t>
            </a:r>
            <a:br>
              <a:rPr lang="en-US" b="0" dirty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</a:br>
            <a:br>
              <a:rPr lang="en-US" b="0" dirty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</a:br>
            <a:r>
              <a:rPr lang="ko-KR" altLang="en-US" b="0" dirty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메뉴 탐색</a:t>
            </a:r>
            <a:r>
              <a:rPr lang="en-US" altLang="ko-KR" b="0" dirty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b="0" dirty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옵션</a:t>
            </a:r>
            <a:r>
              <a:rPr lang="en-US" altLang="ko-KR" b="0" dirty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b="0" dirty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포장 여부</a:t>
            </a:r>
            <a:r>
              <a:rPr lang="en-US" altLang="ko-KR" b="0" dirty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b="0" dirty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결제까지</a:t>
            </a:r>
            <a:r>
              <a:rPr lang="en-US" altLang="ko-KR" b="0" dirty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pPr>
              <a:lnSpc>
                <a:spcPct val="115000"/>
              </a:lnSpc>
              <a:defRPr sz="1800" b="0">
                <a:solidFill>
                  <a:srgbClr val="17362D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b="0" dirty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뒤에 사람이 기다릴수록 선택의 부담은 더 커집니다</a:t>
            </a:r>
            <a:r>
              <a:rPr lang="en-US" altLang="ko-KR" b="0" dirty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pPr>
              <a:lnSpc>
                <a:spcPct val="115000"/>
              </a:lnSpc>
              <a:defRPr sz="1800" b="0">
                <a:solidFill>
                  <a:srgbClr val="17362D"/>
                </a:solidFill>
                <a:latin typeface="Pretendard"/>
                <a:ea typeface="Pretendard"/>
                <a:cs typeface="Pretendard"/>
              </a:defRPr>
            </a:pPr>
            <a:endParaRPr lang="en-US" b="0" dirty="0">
              <a:solidFill>
                <a:srgbClr val="17362D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7362D"/>
                </a:solidFill>
                <a:latin typeface="Pretendard"/>
                <a:ea typeface="Pretendard"/>
                <a:cs typeface="Pretendard"/>
              </a:defRPr>
            </a:pPr>
            <a:endParaRPr lang="en-US" dirty="0">
              <a:solidFill>
                <a:srgbClr val="17362D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7362D"/>
                </a:solidFill>
                <a:latin typeface="Pretendard"/>
                <a:ea typeface="Pretendard"/>
                <a:cs typeface="Pretendard"/>
              </a:defRPr>
            </a:pPr>
            <a:endParaRPr b="0" dirty="0">
              <a:solidFill>
                <a:srgbClr val="17362D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problem-quote-line">
            <a:extLst>
              <a:ext uri="{FF2B5EF4-FFF2-40B4-BE49-F238E27FC236}">
                <a16:creationId xmlns:a16="http://schemas.microsoft.com/office/drawing/2014/main" id="{5B84A742-A8A5-47BD-831F-98DEDD2CD940}"/>
              </a:ext>
            </a:extLst>
          </p:cNvPr>
          <p:cNvSpPr>
            <a:spLocks noGrp="1"/>
          </p:cNvSpPr>
          <p:nvPr/>
        </p:nvSpPr>
        <p:spPr>
          <a:xfrm>
            <a:off x="647700" y="4724400"/>
            <a:ext cx="76200" cy="914400"/>
          </a:xfrm>
          <a:prstGeom prst="roundRect">
            <a:avLst>
              <a:gd name="adj" fmla="val 50000"/>
            </a:avLst>
          </a:prstGeom>
          <a:solidFill>
            <a:srgbClr val="F07B57"/>
          </a:solidFill>
          <a:ln w="0">
            <a:solidFill>
              <a:srgbClr val="F07B5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그림 1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6305550"/>
            <a:ext cx="266700" cy="266700"/>
          </a:xfrm>
          <a:prstGeom prst="rect">
            <a:avLst/>
          </a:prstGeom>
        </p:spPr>
      </p:pic>
      <p:sp>
        <p:nvSpPr>
          <p:cNvPr id="8" name="footer-brand-2">
            <a:extLst>
              <a:ext uri="{FF2B5EF4-FFF2-40B4-BE49-F238E27FC236}">
                <a16:creationId xmlns:a16="http://schemas.microsoft.com/office/drawing/2014/main" id="{22A16849-7CE0-4071-97F7-BEBFAA6940DF}"/>
              </a:ext>
            </a:extLst>
          </p:cNvPr>
          <p:cNvSpPr>
            <a:spLocks noGrp="1"/>
          </p:cNvSpPr>
          <p:nvPr/>
        </p:nvSpPr>
        <p:spPr>
          <a:xfrm>
            <a:off x="1028700" y="63436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한끼패스</a:t>
            </a:r>
          </a:p>
        </p:txBody>
      </p:sp>
      <p:sp>
        <p:nvSpPr>
          <p:cNvPr id="9" name="footer-page-2">
            <a:extLst>
              <a:ext uri="{FF2B5EF4-FFF2-40B4-BE49-F238E27FC236}">
                <a16:creationId xmlns:a16="http://schemas.microsoft.com/office/drawing/2014/main" id="{3AA0A820-0C12-4269-802F-BEA1AD1E9804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7" name="problem-title">
            <a:extLst>
              <a:ext uri="{FF2B5EF4-FFF2-40B4-BE49-F238E27FC236}">
                <a16:creationId xmlns:a16="http://schemas.microsoft.com/office/drawing/2014/main" id="{50A33A1D-CC52-6E83-4BB9-BC12A72EC502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50958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4000"/>
              </a:lnSpc>
              <a:buNone/>
              <a:defRPr sz="3750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375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익숙한</a:t>
            </a:r>
            <a:r>
              <a:rPr sz="37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75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메뉴도</a:t>
            </a:r>
            <a:endParaRPr sz="3750" b="1" dirty="0">
              <a:solidFill>
                <a:srgbClr val="123F32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94000"/>
              </a:lnSpc>
              <a:buNone/>
              <a:defRPr sz="3750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375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주문은</a:t>
            </a:r>
            <a:r>
              <a:rPr sz="37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75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매번</a:t>
            </a:r>
            <a:r>
              <a:rPr sz="37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75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처음부터</a:t>
            </a:r>
            <a:endParaRPr sz="3750" b="1" dirty="0">
              <a:solidFill>
                <a:srgbClr val="123F3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problem-quote">
            <a:extLst>
              <a:ext uri="{FF2B5EF4-FFF2-40B4-BE49-F238E27FC236}">
                <a16:creationId xmlns:a16="http://schemas.microsoft.com/office/drawing/2014/main" id="{7A13E7B6-CC1A-2AF2-3D94-82B8EC77C04D}"/>
              </a:ext>
            </a:extLst>
          </p:cNvPr>
          <p:cNvSpPr>
            <a:spLocks noGrp="1"/>
          </p:cNvSpPr>
          <p:nvPr/>
        </p:nvSpPr>
        <p:spPr>
          <a:xfrm>
            <a:off x="952500" y="4933949"/>
            <a:ext cx="4667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875" b="1">
                <a:solidFill>
                  <a:srgbClr val="1C5A48"/>
                </a:solidFill>
                <a:latin typeface="Pretendard"/>
                <a:ea typeface="Pretendard"/>
                <a:cs typeface="Pretendard"/>
              </a:defRPr>
            </a:pPr>
            <a:r>
              <a:rPr sz="1875" b="1" dirty="0" err="1">
                <a:solidFill>
                  <a:srgbClr val="1C5A48"/>
                </a:solidFill>
                <a:latin typeface="Pretendard"/>
                <a:ea typeface="Pretendard"/>
                <a:cs typeface="Pretendard"/>
              </a:rPr>
              <a:t>화면을</a:t>
            </a:r>
            <a:r>
              <a:rPr sz="1875" b="1" dirty="0">
                <a:solidFill>
                  <a:srgbClr val="1C5A4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75" b="1" dirty="0" err="1">
                <a:solidFill>
                  <a:srgbClr val="1C5A48"/>
                </a:solidFill>
                <a:latin typeface="Pretendard"/>
                <a:ea typeface="Pretendard"/>
                <a:cs typeface="Pretendard"/>
              </a:rPr>
              <a:t>더</a:t>
            </a:r>
            <a:r>
              <a:rPr sz="1875" b="1" dirty="0">
                <a:solidFill>
                  <a:srgbClr val="1C5A4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75" b="1" dirty="0" err="1">
                <a:solidFill>
                  <a:srgbClr val="1C5A48"/>
                </a:solidFill>
                <a:latin typeface="Pretendard"/>
                <a:ea typeface="Pretendard"/>
                <a:cs typeface="Pretendard"/>
              </a:rPr>
              <a:t>쉽게</a:t>
            </a:r>
            <a:r>
              <a:rPr sz="1875" b="1" dirty="0">
                <a:solidFill>
                  <a:srgbClr val="1C5A4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75" b="1" dirty="0" err="1">
                <a:solidFill>
                  <a:srgbClr val="1C5A48"/>
                </a:solidFill>
                <a:latin typeface="Pretendard"/>
                <a:ea typeface="Pretendard"/>
                <a:cs typeface="Pretendard"/>
              </a:rPr>
              <a:t>만드는</a:t>
            </a:r>
            <a:r>
              <a:rPr sz="1875" b="1" dirty="0">
                <a:solidFill>
                  <a:srgbClr val="1C5A4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75" b="1" dirty="0" err="1">
                <a:solidFill>
                  <a:srgbClr val="1C5A48"/>
                </a:solidFill>
                <a:latin typeface="Pretendard"/>
                <a:ea typeface="Pretendard"/>
                <a:cs typeface="Pretendard"/>
              </a:rPr>
              <a:t>것만으로는</a:t>
            </a:r>
            <a:endParaRPr sz="1875" b="1" dirty="0">
              <a:solidFill>
                <a:srgbClr val="1C5A48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10000"/>
              </a:lnSpc>
              <a:buNone/>
              <a:defRPr sz="1875" b="1">
                <a:solidFill>
                  <a:srgbClr val="1C5A48"/>
                </a:solidFill>
                <a:latin typeface="Pretendard"/>
                <a:ea typeface="Pretendard"/>
                <a:cs typeface="Pretendard"/>
              </a:defRPr>
            </a:pPr>
            <a:r>
              <a:rPr sz="1875" b="1" dirty="0" err="1">
                <a:solidFill>
                  <a:srgbClr val="1C5A48"/>
                </a:solidFill>
                <a:latin typeface="Pretendard"/>
                <a:ea typeface="Pretendard"/>
                <a:cs typeface="Pretendard"/>
              </a:rPr>
              <a:t>반복되는</a:t>
            </a:r>
            <a:r>
              <a:rPr sz="1875" b="1" dirty="0">
                <a:solidFill>
                  <a:srgbClr val="1C5A4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75" b="1" dirty="0" err="1">
                <a:solidFill>
                  <a:srgbClr val="1C5A48"/>
                </a:solidFill>
                <a:latin typeface="Pretendard"/>
                <a:ea typeface="Pretendard"/>
                <a:cs typeface="Pretendard"/>
              </a:rPr>
              <a:t>선택</a:t>
            </a:r>
            <a:r>
              <a:rPr sz="1875" b="1" dirty="0">
                <a:solidFill>
                  <a:srgbClr val="1C5A4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75" b="1" dirty="0" err="1">
                <a:solidFill>
                  <a:srgbClr val="1C5A48"/>
                </a:solidFill>
                <a:latin typeface="Pretendard"/>
                <a:ea typeface="Pretendard"/>
                <a:cs typeface="Pretendard"/>
              </a:rPr>
              <a:t>자체를</a:t>
            </a:r>
            <a:r>
              <a:rPr sz="1875" b="1" dirty="0">
                <a:solidFill>
                  <a:srgbClr val="1C5A4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75" b="1" dirty="0" err="1">
                <a:solidFill>
                  <a:srgbClr val="1C5A48"/>
                </a:solidFill>
                <a:latin typeface="Pretendard"/>
                <a:ea typeface="Pretendard"/>
                <a:cs typeface="Pretendard"/>
              </a:rPr>
              <a:t>없앨</a:t>
            </a:r>
            <a:r>
              <a:rPr sz="1875" b="1" dirty="0">
                <a:solidFill>
                  <a:srgbClr val="1C5A4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75" b="1" dirty="0" err="1">
                <a:solidFill>
                  <a:srgbClr val="1C5A48"/>
                </a:solidFill>
                <a:latin typeface="Pretendard"/>
                <a:ea typeface="Pretendard"/>
                <a:cs typeface="Pretendard"/>
              </a:rPr>
              <a:t>수</a:t>
            </a:r>
            <a:r>
              <a:rPr sz="1875" b="1" dirty="0">
                <a:solidFill>
                  <a:srgbClr val="1C5A4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75" b="1" dirty="0" err="1">
                <a:solidFill>
                  <a:srgbClr val="1C5A48"/>
                </a:solidFill>
                <a:latin typeface="Pretendard"/>
                <a:ea typeface="Pretendard"/>
                <a:cs typeface="Pretendard"/>
              </a:rPr>
              <a:t>없습니다</a:t>
            </a:r>
            <a:r>
              <a:rPr sz="1875" b="1" dirty="0">
                <a:solidFill>
                  <a:srgbClr val="1C5A48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9357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같은 QR이 세 사람의 부담을 함께 줄입니다-eyebrow">
            <a:extLst>
              <a:ext uri="{FF2B5EF4-FFF2-40B4-BE49-F238E27FC236}">
                <a16:creationId xmlns:a16="http://schemas.microsoft.com/office/drawing/2014/main" id="{2A2FE77E-512C-4B62-A516-4443107F4AF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07B57"/>
                </a:solidFill>
                <a:latin typeface="Pretendard"/>
                <a:ea typeface="Pretendard"/>
                <a:cs typeface="Pretendard"/>
              </a:defRPr>
            </a:pPr>
            <a:r>
              <a:rPr sz="2400" b="1" dirty="0">
                <a:solidFill>
                  <a:srgbClr val="F07B57"/>
                </a:solidFill>
                <a:latin typeface="Pretendard"/>
                <a:ea typeface="Pretendard"/>
                <a:cs typeface="Pretendard"/>
              </a:rPr>
              <a:t>Target</a:t>
            </a:r>
          </a:p>
        </p:txBody>
      </p:sp>
      <p:sp>
        <p:nvSpPr>
          <p:cNvPr id="2" name="같은 QR이 세 사람의 부담을 함께 줄입니다-title">
            <a:extLst>
              <a:ext uri="{FF2B5EF4-FFF2-40B4-BE49-F238E27FC236}">
                <a16:creationId xmlns:a16="http://schemas.microsoft.com/office/drawing/2014/main" id="{7A61816C-BA7A-4E25-A951-1E58442F54D2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285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고령층에서</a:t>
            </a:r>
            <a:r>
              <a:rPr sz="28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5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시작해</a:t>
            </a:r>
            <a:r>
              <a:rPr sz="28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5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디지털</a:t>
            </a:r>
            <a:r>
              <a:rPr sz="28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5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주문</a:t>
            </a:r>
            <a:r>
              <a:rPr sz="28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5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취약계층까지</a:t>
            </a:r>
            <a:endParaRPr sz="2850" b="1" dirty="0">
              <a:solidFill>
                <a:srgbClr val="123F3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stake-divider-1">
            <a:extLst>
              <a:ext uri="{FF2B5EF4-FFF2-40B4-BE49-F238E27FC236}">
                <a16:creationId xmlns:a16="http://schemas.microsoft.com/office/drawing/2014/main" id="{ED33D807-7E10-4568-AC3C-9823C7D2BCE9}"/>
              </a:ext>
            </a:extLst>
          </p:cNvPr>
          <p:cNvSpPr>
            <a:spLocks noGrp="1"/>
          </p:cNvSpPr>
          <p:nvPr/>
        </p:nvSpPr>
        <p:spPr>
          <a:xfrm>
            <a:off x="4038600" y="1962150"/>
            <a:ext cx="0" cy="0"/>
          </a:xfrm>
          <a:prstGeom prst="line">
            <a:avLst/>
          </a:prstGeom>
          <a:noFill/>
          <a:ln w="9525">
            <a:solidFill>
              <a:srgbClr val="D8D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take-vertical-1">
            <a:extLst>
              <a:ext uri="{FF2B5EF4-FFF2-40B4-BE49-F238E27FC236}">
                <a16:creationId xmlns:a16="http://schemas.microsoft.com/office/drawing/2014/main" id="{8BF6D3B8-5DD8-4434-B40E-ECBF0AB939FE}"/>
              </a:ext>
            </a:extLst>
          </p:cNvPr>
          <p:cNvSpPr>
            <a:spLocks noGrp="1"/>
          </p:cNvSpPr>
          <p:nvPr/>
        </p:nvSpPr>
        <p:spPr>
          <a:xfrm>
            <a:off x="4038600" y="1962150"/>
            <a:ext cx="0" cy="3333750"/>
          </a:xfrm>
          <a:prstGeom prst="line">
            <a:avLst/>
          </a:prstGeom>
          <a:noFill/>
          <a:ln w="9525">
            <a:solidFill>
              <a:srgbClr val="D8D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take-vertical-2">
            <a:extLst>
              <a:ext uri="{FF2B5EF4-FFF2-40B4-BE49-F238E27FC236}">
                <a16:creationId xmlns:a16="http://schemas.microsoft.com/office/drawing/2014/main" id="{6B5A87AC-87CD-48E4-9F33-9BA3A7D9EA2F}"/>
              </a:ext>
            </a:extLst>
          </p:cNvPr>
          <p:cNvSpPr>
            <a:spLocks noGrp="1"/>
          </p:cNvSpPr>
          <p:nvPr/>
        </p:nvSpPr>
        <p:spPr>
          <a:xfrm>
            <a:off x="7677150" y="1962150"/>
            <a:ext cx="0" cy="3333750"/>
          </a:xfrm>
          <a:prstGeom prst="line">
            <a:avLst/>
          </a:prstGeom>
          <a:noFill/>
          <a:ln w="9525">
            <a:solidFill>
              <a:srgbClr val="D8D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take-num-0">
            <a:extLst>
              <a:ext uri="{FF2B5EF4-FFF2-40B4-BE49-F238E27FC236}">
                <a16:creationId xmlns:a16="http://schemas.microsoft.com/office/drawing/2014/main" id="{9F8F8745-2760-4776-8C8B-D3C916370A7D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F07B57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07B57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stake-who-0">
            <a:extLst>
              <a:ext uri="{FF2B5EF4-FFF2-40B4-BE49-F238E27FC236}">
                <a16:creationId xmlns:a16="http://schemas.microsoft.com/office/drawing/2014/main" id="{41B8969B-961A-47AE-A4A2-978AEC52C6FB}"/>
              </a:ext>
            </a:extLst>
          </p:cNvPr>
          <p:cNvSpPr>
            <a:spLocks noGrp="1"/>
          </p:cNvSpPr>
          <p:nvPr/>
        </p:nvSpPr>
        <p:spPr>
          <a:xfrm>
            <a:off x="685800" y="24193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고령 사용자</a:t>
            </a:r>
          </a:p>
        </p:txBody>
      </p:sp>
      <p:sp>
        <p:nvSpPr>
          <p:cNvPr id="8" name="stake-key-0">
            <a:extLst>
              <a:ext uri="{FF2B5EF4-FFF2-40B4-BE49-F238E27FC236}">
                <a16:creationId xmlns:a16="http://schemas.microsoft.com/office/drawing/2014/main" id="{32373393-BA45-432C-B3E5-9D44CA74A749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304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412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412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혼자</a:t>
            </a:r>
          </a:p>
        </p:txBody>
      </p:sp>
      <p:sp>
        <p:nvSpPr>
          <p:cNvPr id="9" name="stake-rule-0">
            <a:extLst>
              <a:ext uri="{FF2B5EF4-FFF2-40B4-BE49-F238E27FC236}">
                <a16:creationId xmlns:a16="http://schemas.microsoft.com/office/drawing/2014/main" id="{91E01F7D-0463-402F-9A1E-A462BFA1D3B2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723900" cy="0"/>
          </a:xfrm>
          <a:prstGeom prst="line">
            <a:avLst/>
          </a:prstGeom>
          <a:noFill/>
          <a:ln w="38100">
            <a:solidFill>
              <a:srgbClr val="F07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take-body-0">
            <a:extLst>
              <a:ext uri="{FF2B5EF4-FFF2-40B4-BE49-F238E27FC236}">
                <a16:creationId xmlns:a16="http://schemas.microsoft.com/office/drawing/2014/main" id="{84699ABC-18B4-44E7-BFAD-337491DBB4E8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3048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7362D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복잡한 메뉴 탐색을 반복하지 않고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7362D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익숙한 조합을 바로 불러옵니다.</a:t>
            </a:r>
          </a:p>
        </p:txBody>
      </p:sp>
      <p:sp>
        <p:nvSpPr>
          <p:cNvPr id="11" name="stake-num-1">
            <a:extLst>
              <a:ext uri="{FF2B5EF4-FFF2-40B4-BE49-F238E27FC236}">
                <a16:creationId xmlns:a16="http://schemas.microsoft.com/office/drawing/2014/main" id="{D8E9921B-9E13-4BEB-81A7-9F19E0B932D3}"/>
              </a:ext>
            </a:extLst>
          </p:cNvPr>
          <p:cNvSpPr>
            <a:spLocks noGrp="1"/>
          </p:cNvSpPr>
          <p:nvPr/>
        </p:nvSpPr>
        <p:spPr>
          <a:xfrm>
            <a:off x="4324350" y="19621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F07B57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07B57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2" name="stake-who-1">
            <a:extLst>
              <a:ext uri="{FF2B5EF4-FFF2-40B4-BE49-F238E27FC236}">
                <a16:creationId xmlns:a16="http://schemas.microsoft.com/office/drawing/2014/main" id="{CCD163B9-2F4B-4357-84A3-DF02DCD208B8}"/>
              </a:ext>
            </a:extLst>
          </p:cNvPr>
          <p:cNvSpPr>
            <a:spLocks noGrp="1"/>
          </p:cNvSpPr>
          <p:nvPr/>
        </p:nvSpPr>
        <p:spPr>
          <a:xfrm>
            <a:off x="4324350" y="24193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가족·보호자</a:t>
            </a:r>
          </a:p>
        </p:txBody>
      </p:sp>
      <p:sp>
        <p:nvSpPr>
          <p:cNvPr id="13" name="stake-key-1">
            <a:extLst>
              <a:ext uri="{FF2B5EF4-FFF2-40B4-BE49-F238E27FC236}">
                <a16:creationId xmlns:a16="http://schemas.microsoft.com/office/drawing/2014/main" id="{A866747B-6B0B-464F-87A8-1750E63C40FD}"/>
              </a:ext>
            </a:extLst>
          </p:cNvPr>
          <p:cNvSpPr>
            <a:spLocks noGrp="1"/>
          </p:cNvSpPr>
          <p:nvPr/>
        </p:nvSpPr>
        <p:spPr>
          <a:xfrm>
            <a:off x="4324350" y="2952750"/>
            <a:ext cx="304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412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412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미리</a:t>
            </a:r>
          </a:p>
        </p:txBody>
      </p:sp>
      <p:sp>
        <p:nvSpPr>
          <p:cNvPr id="14" name="stake-rule-1">
            <a:extLst>
              <a:ext uri="{FF2B5EF4-FFF2-40B4-BE49-F238E27FC236}">
                <a16:creationId xmlns:a16="http://schemas.microsoft.com/office/drawing/2014/main" id="{AE391687-410A-4C83-8B39-64C02AA79E34}"/>
              </a:ext>
            </a:extLst>
          </p:cNvPr>
          <p:cNvSpPr>
            <a:spLocks noGrp="1"/>
          </p:cNvSpPr>
          <p:nvPr/>
        </p:nvSpPr>
        <p:spPr>
          <a:xfrm>
            <a:off x="4324350" y="3886200"/>
            <a:ext cx="723900" cy="0"/>
          </a:xfrm>
          <a:prstGeom prst="line">
            <a:avLst/>
          </a:prstGeom>
          <a:noFill/>
          <a:ln w="38100">
            <a:solidFill>
              <a:srgbClr val="F07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take-body-1">
            <a:extLst>
              <a:ext uri="{FF2B5EF4-FFF2-40B4-BE49-F238E27FC236}">
                <a16:creationId xmlns:a16="http://schemas.microsoft.com/office/drawing/2014/main" id="{B9F7B7CC-6934-45A6-9FF6-27B3D842AFD4}"/>
              </a:ext>
            </a:extLst>
          </p:cNvPr>
          <p:cNvSpPr>
            <a:spLocks noGrp="1"/>
          </p:cNvSpPr>
          <p:nvPr/>
        </p:nvSpPr>
        <p:spPr>
          <a:xfrm>
            <a:off x="4324350" y="4191000"/>
            <a:ext cx="3048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7362D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자주 먹는 메뉴를 준비하고 공유해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7362D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현장에서의 부담을 함께 줄입니다.</a:t>
            </a:r>
          </a:p>
        </p:txBody>
      </p:sp>
      <p:sp>
        <p:nvSpPr>
          <p:cNvPr id="16" name="stake-num-2">
            <a:extLst>
              <a:ext uri="{FF2B5EF4-FFF2-40B4-BE49-F238E27FC236}">
                <a16:creationId xmlns:a16="http://schemas.microsoft.com/office/drawing/2014/main" id="{A74F395D-48B0-4D6D-A004-AEBCD54F578D}"/>
              </a:ext>
            </a:extLst>
          </p:cNvPr>
          <p:cNvSpPr>
            <a:spLocks noGrp="1"/>
          </p:cNvSpPr>
          <p:nvPr/>
        </p:nvSpPr>
        <p:spPr>
          <a:xfrm>
            <a:off x="7962900" y="19621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F07B57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07B57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stake-who-2">
            <a:extLst>
              <a:ext uri="{FF2B5EF4-FFF2-40B4-BE49-F238E27FC236}">
                <a16:creationId xmlns:a16="http://schemas.microsoft.com/office/drawing/2014/main" id="{96666F85-2B90-44C3-8957-FC14062B7898}"/>
              </a:ext>
            </a:extLst>
          </p:cNvPr>
          <p:cNvSpPr>
            <a:spLocks noGrp="1"/>
          </p:cNvSpPr>
          <p:nvPr/>
        </p:nvSpPr>
        <p:spPr>
          <a:xfrm>
            <a:off x="7962900" y="24193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브랜드·운영자</a:t>
            </a:r>
          </a:p>
        </p:txBody>
      </p:sp>
      <p:sp>
        <p:nvSpPr>
          <p:cNvPr id="18" name="stake-key-2">
            <a:extLst>
              <a:ext uri="{FF2B5EF4-FFF2-40B4-BE49-F238E27FC236}">
                <a16:creationId xmlns:a16="http://schemas.microsoft.com/office/drawing/2014/main" id="{0BACB69A-E04B-496A-AD02-A5B015DC0583}"/>
              </a:ext>
            </a:extLst>
          </p:cNvPr>
          <p:cNvSpPr>
            <a:spLocks noGrp="1"/>
          </p:cNvSpPr>
          <p:nvPr/>
        </p:nvSpPr>
        <p:spPr>
          <a:xfrm>
            <a:off x="7962900" y="2952750"/>
            <a:ext cx="304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2850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8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짧게</a:t>
            </a:r>
            <a:endParaRPr sz="2850" b="1" dirty="0">
              <a:solidFill>
                <a:srgbClr val="123F3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stake-rule-2">
            <a:extLst>
              <a:ext uri="{FF2B5EF4-FFF2-40B4-BE49-F238E27FC236}">
                <a16:creationId xmlns:a16="http://schemas.microsoft.com/office/drawing/2014/main" id="{66BBF36D-793C-4FD2-9354-514180C48394}"/>
              </a:ext>
            </a:extLst>
          </p:cNvPr>
          <p:cNvSpPr>
            <a:spLocks noGrp="1"/>
          </p:cNvSpPr>
          <p:nvPr/>
        </p:nvSpPr>
        <p:spPr>
          <a:xfrm>
            <a:off x="7962900" y="3886200"/>
            <a:ext cx="723900" cy="0"/>
          </a:xfrm>
          <a:prstGeom prst="line">
            <a:avLst/>
          </a:prstGeom>
          <a:noFill/>
          <a:ln w="38100">
            <a:solidFill>
              <a:srgbClr val="F07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take-body-2">
            <a:extLst>
              <a:ext uri="{FF2B5EF4-FFF2-40B4-BE49-F238E27FC236}">
                <a16:creationId xmlns:a16="http://schemas.microsoft.com/office/drawing/2014/main" id="{6E0BDBC1-53C5-4475-BCC0-1B93E072D69C}"/>
              </a:ext>
            </a:extLst>
          </p:cNvPr>
          <p:cNvSpPr>
            <a:spLocks noGrp="1"/>
          </p:cNvSpPr>
          <p:nvPr/>
        </p:nvSpPr>
        <p:spPr>
          <a:xfrm>
            <a:off x="7962900" y="4191000"/>
            <a:ext cx="3048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7362D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주문 도중 이탈할 수 있는 고객에게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7362D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더 짧은 주문 경로를 제공합니다.</a:t>
            </a:r>
          </a:p>
        </p:txBody>
      </p:sp>
      <p:sp>
        <p:nvSpPr>
          <p:cNvPr id="21" name="stake-close">
            <a:extLst>
              <a:ext uri="{FF2B5EF4-FFF2-40B4-BE49-F238E27FC236}">
                <a16:creationId xmlns:a16="http://schemas.microsoft.com/office/drawing/2014/main" id="{F4949D4E-B689-4D70-B7C8-C1C1C8913FC0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210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고령층의</a:t>
            </a:r>
            <a:r>
              <a:rPr sz="210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10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명확한</a:t>
            </a:r>
            <a:r>
              <a:rPr sz="210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10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불편에서</a:t>
            </a:r>
            <a:r>
              <a:rPr sz="210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10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시작하지만</a:t>
            </a:r>
            <a:r>
              <a:rPr sz="210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210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낯선</a:t>
            </a:r>
            <a:r>
              <a:rPr sz="210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10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주문</a:t>
            </a:r>
            <a:r>
              <a:rPr sz="210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10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환경에</a:t>
            </a:r>
            <a:r>
              <a:rPr sz="210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10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취약한</a:t>
            </a:r>
            <a:r>
              <a:rPr sz="210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10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누구나</a:t>
            </a:r>
            <a:r>
              <a:rPr sz="210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10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사용할</a:t>
            </a:r>
            <a:r>
              <a:rPr sz="210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10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수</a:t>
            </a:r>
            <a:r>
              <a:rPr sz="210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10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있습니다</a:t>
            </a:r>
            <a:r>
              <a:rPr sz="210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pic>
        <p:nvPicPr>
          <p:cNvPr id="48" name="그림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6305550"/>
            <a:ext cx="266700" cy="266700"/>
          </a:xfrm>
          <a:prstGeom prst="rect">
            <a:avLst/>
          </a:prstGeom>
        </p:spPr>
      </p:pic>
      <p:sp>
        <p:nvSpPr>
          <p:cNvPr id="23" name="footer-brand-5">
            <a:extLst>
              <a:ext uri="{FF2B5EF4-FFF2-40B4-BE49-F238E27FC236}">
                <a16:creationId xmlns:a16="http://schemas.microsoft.com/office/drawing/2014/main" id="{C6DE1BC3-8B3A-4910-8D24-3C8339625B32}"/>
              </a:ext>
            </a:extLst>
          </p:cNvPr>
          <p:cNvSpPr>
            <a:spLocks noGrp="1"/>
          </p:cNvSpPr>
          <p:nvPr/>
        </p:nvSpPr>
        <p:spPr>
          <a:xfrm>
            <a:off x="1028700" y="63436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한끼패스</a:t>
            </a:r>
          </a:p>
        </p:txBody>
      </p:sp>
      <p:sp>
        <p:nvSpPr>
          <p:cNvPr id="24" name="footer-page-5">
            <a:extLst>
              <a:ext uri="{FF2B5EF4-FFF2-40B4-BE49-F238E27FC236}">
                <a16:creationId xmlns:a16="http://schemas.microsoft.com/office/drawing/2014/main" id="{46B83B96-D9DD-4A36-B1A4-43E37D76A2E4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54586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키오스크를 쉽게 쓰게 하기보다, 덜 쓰게 합니다-eyebrow">
            <a:extLst>
              <a:ext uri="{FF2B5EF4-FFF2-40B4-BE49-F238E27FC236}">
                <a16:creationId xmlns:a16="http://schemas.microsoft.com/office/drawing/2014/main" id="{BC3DEB71-A920-44E7-93D2-E2FB864466D9}"/>
              </a:ext>
            </a:extLst>
          </p:cNvPr>
          <p:cNvSpPr>
            <a:spLocks noGrp="1"/>
          </p:cNvSpPr>
          <p:nvPr/>
        </p:nvSpPr>
        <p:spPr>
          <a:xfrm>
            <a:off x="619125" y="3810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07B57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F07B57"/>
                </a:solidFill>
                <a:latin typeface="Pretendard"/>
                <a:ea typeface="Pretendard"/>
                <a:cs typeface="Pretendard"/>
              </a:rPr>
              <a:t>Insight</a:t>
            </a:r>
          </a:p>
        </p:txBody>
      </p:sp>
      <p:sp>
        <p:nvSpPr>
          <p:cNvPr id="3" name="legacy-arrow-0">
            <a:extLst>
              <a:ext uri="{FF2B5EF4-FFF2-40B4-BE49-F238E27FC236}">
                <a16:creationId xmlns:a16="http://schemas.microsoft.com/office/drawing/2014/main" id="{12A974CA-8F40-4EC8-B97C-32CF32A929CC}"/>
              </a:ext>
            </a:extLst>
          </p:cNvPr>
          <p:cNvSpPr>
            <a:spLocks noGrp="1"/>
          </p:cNvSpPr>
          <p:nvPr/>
        </p:nvSpPr>
        <p:spPr>
          <a:xfrm>
            <a:off x="4619625" y="2514600"/>
            <a:ext cx="514350" cy="209550"/>
          </a:xfrm>
          <a:prstGeom prst="rightArrow">
            <a:avLst/>
          </a:prstGeom>
          <a:solidFill>
            <a:srgbClr val="C9C3B8"/>
          </a:solidFill>
          <a:ln w="0">
            <a:solidFill>
              <a:srgbClr val="C9C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legacy-arrow-1">
            <a:extLst>
              <a:ext uri="{FF2B5EF4-FFF2-40B4-BE49-F238E27FC236}">
                <a16:creationId xmlns:a16="http://schemas.microsoft.com/office/drawing/2014/main" id="{C759CA4D-CA3E-45E9-B76E-6791600194AF}"/>
              </a:ext>
            </a:extLst>
          </p:cNvPr>
          <p:cNvSpPr>
            <a:spLocks noGrp="1"/>
          </p:cNvSpPr>
          <p:nvPr/>
        </p:nvSpPr>
        <p:spPr>
          <a:xfrm>
            <a:off x="6572250" y="2514600"/>
            <a:ext cx="514350" cy="209550"/>
          </a:xfrm>
          <a:prstGeom prst="rightArrow">
            <a:avLst/>
          </a:prstGeom>
          <a:solidFill>
            <a:srgbClr val="C9C3B8"/>
          </a:solidFill>
          <a:ln w="0">
            <a:solidFill>
              <a:srgbClr val="C9C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legacy-arrow-2">
            <a:extLst>
              <a:ext uri="{FF2B5EF4-FFF2-40B4-BE49-F238E27FC236}">
                <a16:creationId xmlns:a16="http://schemas.microsoft.com/office/drawing/2014/main" id="{5762D351-E2A4-4AB9-9A07-F38A4D342AAC}"/>
              </a:ext>
            </a:extLst>
          </p:cNvPr>
          <p:cNvSpPr>
            <a:spLocks noGrp="1"/>
          </p:cNvSpPr>
          <p:nvPr/>
        </p:nvSpPr>
        <p:spPr>
          <a:xfrm>
            <a:off x="8524875" y="2514600"/>
            <a:ext cx="514350" cy="209550"/>
          </a:xfrm>
          <a:prstGeom prst="rightArrow">
            <a:avLst/>
          </a:prstGeom>
          <a:solidFill>
            <a:srgbClr val="C9C3B8"/>
          </a:solidFill>
          <a:ln w="0">
            <a:solidFill>
              <a:srgbClr val="C9C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ss-arrow-0">
            <a:extLst>
              <a:ext uri="{FF2B5EF4-FFF2-40B4-BE49-F238E27FC236}">
                <a16:creationId xmlns:a16="http://schemas.microsoft.com/office/drawing/2014/main" id="{E89511E9-92BA-4922-A2DC-05B71AF43D71}"/>
              </a:ext>
            </a:extLst>
          </p:cNvPr>
          <p:cNvSpPr>
            <a:spLocks noGrp="1"/>
          </p:cNvSpPr>
          <p:nvPr/>
        </p:nvSpPr>
        <p:spPr>
          <a:xfrm>
            <a:off x="5095875" y="4667250"/>
            <a:ext cx="666750" cy="228600"/>
          </a:xfrm>
          <a:prstGeom prst="rightArrow">
            <a:avLst/>
          </a:prstGeom>
          <a:solidFill>
            <a:srgbClr val="F07B57"/>
          </a:solidFill>
          <a:ln w="0">
            <a:solidFill>
              <a:srgbClr val="F07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pass-arrow-1">
            <a:extLst>
              <a:ext uri="{FF2B5EF4-FFF2-40B4-BE49-F238E27FC236}">
                <a16:creationId xmlns:a16="http://schemas.microsoft.com/office/drawing/2014/main" id="{426236BC-93F2-41D1-A042-EC7B858C075E}"/>
              </a:ext>
            </a:extLst>
          </p:cNvPr>
          <p:cNvSpPr>
            <a:spLocks noGrp="1"/>
          </p:cNvSpPr>
          <p:nvPr/>
        </p:nvSpPr>
        <p:spPr>
          <a:xfrm>
            <a:off x="7524750" y="4667250"/>
            <a:ext cx="666750" cy="228600"/>
          </a:xfrm>
          <a:prstGeom prst="rightArrow">
            <a:avLst/>
          </a:prstGeom>
          <a:solidFill>
            <a:srgbClr val="F07B57"/>
          </a:solidFill>
          <a:ln w="0">
            <a:solidFill>
              <a:srgbClr val="F07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legacy-label">
            <a:extLst>
              <a:ext uri="{FF2B5EF4-FFF2-40B4-BE49-F238E27FC236}">
                <a16:creationId xmlns:a16="http://schemas.microsoft.com/office/drawing/2014/main" id="{D2F6F7E3-3151-4977-A0B2-D9B20CA176F4}"/>
              </a:ext>
            </a:extLst>
          </p:cNvPr>
          <p:cNvSpPr>
            <a:spLocks noGrp="1"/>
          </p:cNvSpPr>
          <p:nvPr/>
        </p:nvSpPr>
        <p:spPr>
          <a:xfrm>
            <a:off x="1238250" y="2314575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2500" b="1" dirty="0" err="1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기존</a:t>
            </a:r>
            <a:r>
              <a:rPr sz="2500" b="1" dirty="0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500" b="1" dirty="0" err="1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주문</a:t>
            </a:r>
            <a:endParaRPr sz="2500" b="1" dirty="0">
              <a:solidFill>
                <a:srgbClr val="68756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legacy-box-0">
            <a:extLst>
              <a:ext uri="{FF2B5EF4-FFF2-40B4-BE49-F238E27FC236}">
                <a16:creationId xmlns:a16="http://schemas.microsoft.com/office/drawing/2014/main" id="{D711E55B-2D56-4B4E-86ED-EF271ACF301E}"/>
              </a:ext>
            </a:extLst>
          </p:cNvPr>
          <p:cNvSpPr>
            <a:spLocks noGrp="1"/>
          </p:cNvSpPr>
          <p:nvPr/>
        </p:nvSpPr>
        <p:spPr>
          <a:xfrm>
            <a:off x="3000375" y="2152650"/>
            <a:ext cx="1619250" cy="952500"/>
          </a:xfrm>
          <a:prstGeom prst="roundRect">
            <a:avLst>
              <a:gd name="adj" fmla="val 18000"/>
            </a:avLst>
          </a:prstGeom>
          <a:solidFill>
            <a:srgbClr val="F2EEE6"/>
          </a:solidFill>
          <a:ln w="9525">
            <a:solidFill>
              <a:srgbClr val="D4CD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legacy-head-0">
            <a:extLst>
              <a:ext uri="{FF2B5EF4-FFF2-40B4-BE49-F238E27FC236}">
                <a16:creationId xmlns:a16="http://schemas.microsoft.com/office/drawing/2014/main" id="{FB33E5C9-59D3-41BF-8221-284A295B9335}"/>
              </a:ext>
            </a:extLst>
          </p:cNvPr>
          <p:cNvSpPr>
            <a:spLocks noGrp="1"/>
          </p:cNvSpPr>
          <p:nvPr/>
        </p:nvSpPr>
        <p:spPr>
          <a:xfrm>
            <a:off x="3152775" y="2333625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6F746F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6F746F"/>
                </a:solidFill>
                <a:latin typeface="Pretendard"/>
                <a:ea typeface="Pretendard"/>
                <a:cs typeface="Pretendard"/>
              </a:rPr>
              <a:t>메뉴 탐색</a:t>
            </a:r>
          </a:p>
        </p:txBody>
      </p:sp>
      <p:sp>
        <p:nvSpPr>
          <p:cNvPr id="11" name="legacy-body-0">
            <a:extLst>
              <a:ext uri="{FF2B5EF4-FFF2-40B4-BE49-F238E27FC236}">
                <a16:creationId xmlns:a16="http://schemas.microsoft.com/office/drawing/2014/main" id="{3D8A2FAD-141E-4222-983B-ECF46E47BCF6}"/>
              </a:ext>
            </a:extLst>
          </p:cNvPr>
          <p:cNvSpPr>
            <a:spLocks noGrp="1"/>
          </p:cNvSpPr>
          <p:nvPr/>
        </p:nvSpPr>
        <p:spPr>
          <a:xfrm>
            <a:off x="3152775" y="2705100"/>
            <a:ext cx="1314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858B85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858B85"/>
                </a:solidFill>
                <a:latin typeface="Pretendard"/>
                <a:ea typeface="Pretendard"/>
                <a:cs typeface="Pretendard"/>
              </a:rPr>
              <a:t>처음부터 찾기</a:t>
            </a:r>
          </a:p>
        </p:txBody>
      </p:sp>
      <p:sp>
        <p:nvSpPr>
          <p:cNvPr id="12" name="legacy-box-1">
            <a:extLst>
              <a:ext uri="{FF2B5EF4-FFF2-40B4-BE49-F238E27FC236}">
                <a16:creationId xmlns:a16="http://schemas.microsoft.com/office/drawing/2014/main" id="{F45CB755-0D61-4045-9F79-380E5CF1C119}"/>
              </a:ext>
            </a:extLst>
          </p:cNvPr>
          <p:cNvSpPr>
            <a:spLocks noGrp="1"/>
          </p:cNvSpPr>
          <p:nvPr/>
        </p:nvSpPr>
        <p:spPr>
          <a:xfrm>
            <a:off x="4953000" y="2152650"/>
            <a:ext cx="1619250" cy="952500"/>
          </a:xfrm>
          <a:prstGeom prst="roundRect">
            <a:avLst>
              <a:gd name="adj" fmla="val 18000"/>
            </a:avLst>
          </a:prstGeom>
          <a:solidFill>
            <a:srgbClr val="F2EEE6"/>
          </a:solidFill>
          <a:ln w="9525">
            <a:solidFill>
              <a:srgbClr val="D4CD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legacy-head-1">
            <a:extLst>
              <a:ext uri="{FF2B5EF4-FFF2-40B4-BE49-F238E27FC236}">
                <a16:creationId xmlns:a16="http://schemas.microsoft.com/office/drawing/2014/main" id="{75FD8376-35D1-4E18-827B-13D06A4B8D84}"/>
              </a:ext>
            </a:extLst>
          </p:cNvPr>
          <p:cNvSpPr>
            <a:spLocks noGrp="1"/>
          </p:cNvSpPr>
          <p:nvPr/>
        </p:nvSpPr>
        <p:spPr>
          <a:xfrm>
            <a:off x="5105400" y="2333625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6F746F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6F746F"/>
                </a:solidFill>
                <a:latin typeface="Pretendard"/>
                <a:ea typeface="Pretendard"/>
                <a:cs typeface="Pretendard"/>
              </a:rPr>
              <a:t>옵션 선택</a:t>
            </a:r>
          </a:p>
        </p:txBody>
      </p:sp>
      <p:sp>
        <p:nvSpPr>
          <p:cNvPr id="14" name="legacy-body-1">
            <a:extLst>
              <a:ext uri="{FF2B5EF4-FFF2-40B4-BE49-F238E27FC236}">
                <a16:creationId xmlns:a16="http://schemas.microsoft.com/office/drawing/2014/main" id="{E562FC92-A8FE-4C4D-8C7A-59F0C1BB9328}"/>
              </a:ext>
            </a:extLst>
          </p:cNvPr>
          <p:cNvSpPr>
            <a:spLocks noGrp="1"/>
          </p:cNvSpPr>
          <p:nvPr/>
        </p:nvSpPr>
        <p:spPr>
          <a:xfrm>
            <a:off x="5105400" y="2705100"/>
            <a:ext cx="1314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858B85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858B85"/>
                </a:solidFill>
                <a:latin typeface="Pretendard"/>
                <a:ea typeface="Pretendard"/>
                <a:cs typeface="Pretendard"/>
              </a:rPr>
              <a:t>세부 설정</a:t>
            </a:r>
          </a:p>
        </p:txBody>
      </p:sp>
      <p:sp>
        <p:nvSpPr>
          <p:cNvPr id="15" name="legacy-box-2">
            <a:extLst>
              <a:ext uri="{FF2B5EF4-FFF2-40B4-BE49-F238E27FC236}">
                <a16:creationId xmlns:a16="http://schemas.microsoft.com/office/drawing/2014/main" id="{4EFAE960-CC01-4B8A-9EEB-8BA620D0505D}"/>
              </a:ext>
            </a:extLst>
          </p:cNvPr>
          <p:cNvSpPr>
            <a:spLocks noGrp="1"/>
          </p:cNvSpPr>
          <p:nvPr/>
        </p:nvSpPr>
        <p:spPr>
          <a:xfrm>
            <a:off x="6905625" y="2152650"/>
            <a:ext cx="1619250" cy="952500"/>
          </a:xfrm>
          <a:prstGeom prst="roundRect">
            <a:avLst>
              <a:gd name="adj" fmla="val 18000"/>
            </a:avLst>
          </a:prstGeom>
          <a:solidFill>
            <a:srgbClr val="F2EEE6"/>
          </a:solidFill>
          <a:ln w="9525">
            <a:solidFill>
              <a:srgbClr val="D4CD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legacy-head-2">
            <a:extLst>
              <a:ext uri="{FF2B5EF4-FFF2-40B4-BE49-F238E27FC236}">
                <a16:creationId xmlns:a16="http://schemas.microsoft.com/office/drawing/2014/main" id="{5C16B151-0815-41D0-B6B8-B985609C5DC8}"/>
              </a:ext>
            </a:extLst>
          </p:cNvPr>
          <p:cNvSpPr>
            <a:spLocks noGrp="1"/>
          </p:cNvSpPr>
          <p:nvPr/>
        </p:nvSpPr>
        <p:spPr>
          <a:xfrm>
            <a:off x="7058025" y="2333625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6F746F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6F746F"/>
                </a:solidFill>
                <a:latin typeface="Pretendard"/>
                <a:ea typeface="Pretendard"/>
                <a:cs typeface="Pretendard"/>
              </a:rPr>
              <a:t>포장 여부</a:t>
            </a:r>
          </a:p>
        </p:txBody>
      </p:sp>
      <p:sp>
        <p:nvSpPr>
          <p:cNvPr id="17" name="legacy-body-2">
            <a:extLst>
              <a:ext uri="{FF2B5EF4-FFF2-40B4-BE49-F238E27FC236}">
                <a16:creationId xmlns:a16="http://schemas.microsoft.com/office/drawing/2014/main" id="{414C3663-CA9C-4E1C-A00A-B5C16D42D526}"/>
              </a:ext>
            </a:extLst>
          </p:cNvPr>
          <p:cNvSpPr>
            <a:spLocks noGrp="1"/>
          </p:cNvSpPr>
          <p:nvPr/>
        </p:nvSpPr>
        <p:spPr>
          <a:xfrm>
            <a:off x="7058025" y="2705100"/>
            <a:ext cx="1314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858B85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858B85"/>
                </a:solidFill>
                <a:latin typeface="Pretendard"/>
                <a:ea typeface="Pretendard"/>
                <a:cs typeface="Pretendard"/>
              </a:rPr>
              <a:t>추가 확인</a:t>
            </a:r>
          </a:p>
        </p:txBody>
      </p:sp>
      <p:sp>
        <p:nvSpPr>
          <p:cNvPr id="18" name="legacy-box-3">
            <a:extLst>
              <a:ext uri="{FF2B5EF4-FFF2-40B4-BE49-F238E27FC236}">
                <a16:creationId xmlns:a16="http://schemas.microsoft.com/office/drawing/2014/main" id="{F443002C-A975-48D8-873C-08112912D687}"/>
              </a:ext>
            </a:extLst>
          </p:cNvPr>
          <p:cNvSpPr>
            <a:spLocks noGrp="1"/>
          </p:cNvSpPr>
          <p:nvPr/>
        </p:nvSpPr>
        <p:spPr>
          <a:xfrm>
            <a:off x="8858250" y="2152650"/>
            <a:ext cx="1619250" cy="952500"/>
          </a:xfrm>
          <a:prstGeom prst="roundRect">
            <a:avLst>
              <a:gd name="adj" fmla="val 18000"/>
            </a:avLst>
          </a:prstGeom>
          <a:solidFill>
            <a:srgbClr val="F2EEE6"/>
          </a:solidFill>
          <a:ln w="9525">
            <a:solidFill>
              <a:srgbClr val="D4CD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legacy-head-3">
            <a:extLst>
              <a:ext uri="{FF2B5EF4-FFF2-40B4-BE49-F238E27FC236}">
                <a16:creationId xmlns:a16="http://schemas.microsoft.com/office/drawing/2014/main" id="{A2668314-D077-4172-B4A0-E31243E1CFC9}"/>
              </a:ext>
            </a:extLst>
          </p:cNvPr>
          <p:cNvSpPr>
            <a:spLocks noGrp="1"/>
          </p:cNvSpPr>
          <p:nvPr/>
        </p:nvSpPr>
        <p:spPr>
          <a:xfrm>
            <a:off x="9010650" y="2333625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6F746F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6F746F"/>
                </a:solidFill>
                <a:latin typeface="Pretendard"/>
                <a:ea typeface="Pretendard"/>
                <a:cs typeface="Pretendard"/>
              </a:rPr>
              <a:t>결제</a:t>
            </a:r>
          </a:p>
        </p:txBody>
      </p:sp>
      <p:sp>
        <p:nvSpPr>
          <p:cNvPr id="20" name="legacy-body-3">
            <a:extLst>
              <a:ext uri="{FF2B5EF4-FFF2-40B4-BE49-F238E27FC236}">
                <a16:creationId xmlns:a16="http://schemas.microsoft.com/office/drawing/2014/main" id="{BB7F60E7-0C31-4B13-8F1C-FFEED515DE6E}"/>
              </a:ext>
            </a:extLst>
          </p:cNvPr>
          <p:cNvSpPr>
            <a:spLocks noGrp="1"/>
          </p:cNvSpPr>
          <p:nvPr/>
        </p:nvSpPr>
        <p:spPr>
          <a:xfrm>
            <a:off x="9010650" y="2705100"/>
            <a:ext cx="1314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858B85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858B85"/>
                </a:solidFill>
                <a:latin typeface="Pretendard"/>
                <a:ea typeface="Pretendard"/>
                <a:cs typeface="Pretendard"/>
              </a:rPr>
              <a:t>주문 마무리</a:t>
            </a:r>
          </a:p>
        </p:txBody>
      </p:sp>
      <p:sp>
        <p:nvSpPr>
          <p:cNvPr id="21" name="pass-label">
            <a:extLst>
              <a:ext uri="{FF2B5EF4-FFF2-40B4-BE49-F238E27FC236}">
                <a16:creationId xmlns:a16="http://schemas.microsoft.com/office/drawing/2014/main" id="{6DB28740-75BC-4F82-BEF2-0D3FA6CF94FC}"/>
              </a:ext>
            </a:extLst>
          </p:cNvPr>
          <p:cNvSpPr>
            <a:spLocks noGrp="1"/>
          </p:cNvSpPr>
          <p:nvPr/>
        </p:nvSpPr>
        <p:spPr>
          <a:xfrm>
            <a:off x="1238250" y="4257675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07B57"/>
                </a:solidFill>
                <a:latin typeface="Pretendard"/>
                <a:ea typeface="Pretendard"/>
                <a:cs typeface="Pretendard"/>
              </a:defRPr>
            </a:pPr>
            <a:r>
              <a:rPr sz="2500" b="1" dirty="0" err="1">
                <a:solidFill>
                  <a:srgbClr val="F07B57"/>
                </a:solidFill>
                <a:latin typeface="Pretendard"/>
                <a:ea typeface="Pretendard"/>
                <a:cs typeface="Pretendard"/>
              </a:rPr>
              <a:t>한끼패스</a:t>
            </a:r>
            <a:endParaRPr sz="2500" b="1" dirty="0">
              <a:solidFill>
                <a:srgbClr val="F07B5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pass-box-0">
            <a:extLst>
              <a:ext uri="{FF2B5EF4-FFF2-40B4-BE49-F238E27FC236}">
                <a16:creationId xmlns:a16="http://schemas.microsoft.com/office/drawing/2014/main" id="{216D7C64-2049-4BDA-AF18-32C439CED325}"/>
              </a:ext>
            </a:extLst>
          </p:cNvPr>
          <p:cNvSpPr>
            <a:spLocks noGrp="1"/>
          </p:cNvSpPr>
          <p:nvPr/>
        </p:nvSpPr>
        <p:spPr>
          <a:xfrm>
            <a:off x="3048000" y="4171950"/>
            <a:ext cx="2047875" cy="1200150"/>
          </a:xfrm>
          <a:prstGeom prst="roundRect">
            <a:avLst>
              <a:gd name="adj" fmla="val 17460"/>
            </a:avLst>
          </a:prstGeom>
          <a:solidFill>
            <a:srgbClr val="FBE4D9"/>
          </a:solidFill>
          <a:ln w="19050">
            <a:solidFill>
              <a:srgbClr val="F07B5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3" name="pass-head-0">
            <a:extLst>
              <a:ext uri="{FF2B5EF4-FFF2-40B4-BE49-F238E27FC236}">
                <a16:creationId xmlns:a16="http://schemas.microsoft.com/office/drawing/2014/main" id="{96C0FEF6-B477-4049-87A2-2215B5AE070A}"/>
              </a:ext>
            </a:extLst>
          </p:cNvPr>
          <p:cNvSpPr>
            <a:spLocks noGrp="1"/>
          </p:cNvSpPr>
          <p:nvPr/>
        </p:nvSpPr>
        <p:spPr>
          <a:xfrm>
            <a:off x="3219450" y="4419600"/>
            <a:ext cx="1704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QR 스캔</a:t>
            </a:r>
          </a:p>
        </p:txBody>
      </p:sp>
      <p:sp>
        <p:nvSpPr>
          <p:cNvPr id="24" name="pass-body-0">
            <a:extLst>
              <a:ext uri="{FF2B5EF4-FFF2-40B4-BE49-F238E27FC236}">
                <a16:creationId xmlns:a16="http://schemas.microsoft.com/office/drawing/2014/main" id="{D956FB37-0BD5-4649-A2E2-353E7C0DA17C}"/>
              </a:ext>
            </a:extLst>
          </p:cNvPr>
          <p:cNvSpPr>
            <a:spLocks noGrp="1"/>
          </p:cNvSpPr>
          <p:nvPr/>
        </p:nvSpPr>
        <p:spPr>
          <a:xfrm>
            <a:off x="3219450" y="4857750"/>
            <a:ext cx="17049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준비한 조합 호출</a:t>
            </a:r>
          </a:p>
        </p:txBody>
      </p:sp>
      <p:sp>
        <p:nvSpPr>
          <p:cNvPr id="25" name="pass-box-1">
            <a:extLst>
              <a:ext uri="{FF2B5EF4-FFF2-40B4-BE49-F238E27FC236}">
                <a16:creationId xmlns:a16="http://schemas.microsoft.com/office/drawing/2014/main" id="{10C0B71C-05EB-4503-BC3B-6365D4C5CF0D}"/>
              </a:ext>
            </a:extLst>
          </p:cNvPr>
          <p:cNvSpPr>
            <a:spLocks noGrp="1"/>
          </p:cNvSpPr>
          <p:nvPr/>
        </p:nvSpPr>
        <p:spPr>
          <a:xfrm>
            <a:off x="5476875" y="4171950"/>
            <a:ext cx="2047875" cy="1200150"/>
          </a:xfrm>
          <a:prstGeom prst="roundRect">
            <a:avLst>
              <a:gd name="adj" fmla="val 17460"/>
            </a:avLst>
          </a:prstGeom>
          <a:solidFill>
            <a:srgbClr val="FFFCF6"/>
          </a:solidFill>
          <a:ln w="9525">
            <a:solidFill>
              <a:srgbClr val="B9C9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pass-head-1">
            <a:extLst>
              <a:ext uri="{FF2B5EF4-FFF2-40B4-BE49-F238E27FC236}">
                <a16:creationId xmlns:a16="http://schemas.microsoft.com/office/drawing/2014/main" id="{673BCCDE-1E2D-4D1F-8197-660574C19898}"/>
              </a:ext>
            </a:extLst>
          </p:cNvPr>
          <p:cNvSpPr>
            <a:spLocks noGrp="1"/>
          </p:cNvSpPr>
          <p:nvPr/>
        </p:nvSpPr>
        <p:spPr>
          <a:xfrm>
            <a:off x="5648325" y="4419600"/>
            <a:ext cx="1704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주문 확인</a:t>
            </a:r>
          </a:p>
        </p:txBody>
      </p:sp>
      <p:sp>
        <p:nvSpPr>
          <p:cNvPr id="27" name="pass-body-1">
            <a:extLst>
              <a:ext uri="{FF2B5EF4-FFF2-40B4-BE49-F238E27FC236}">
                <a16:creationId xmlns:a16="http://schemas.microsoft.com/office/drawing/2014/main" id="{1D70003D-1AC1-4A57-B0AC-C040D5B270EA}"/>
              </a:ext>
            </a:extLst>
          </p:cNvPr>
          <p:cNvSpPr>
            <a:spLocks noGrp="1"/>
          </p:cNvSpPr>
          <p:nvPr/>
        </p:nvSpPr>
        <p:spPr>
          <a:xfrm>
            <a:off x="5648325" y="4857750"/>
            <a:ext cx="17049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메뉴 ID 확인</a:t>
            </a:r>
          </a:p>
        </p:txBody>
      </p:sp>
      <p:sp>
        <p:nvSpPr>
          <p:cNvPr id="28" name="pass-box-2">
            <a:extLst>
              <a:ext uri="{FF2B5EF4-FFF2-40B4-BE49-F238E27FC236}">
                <a16:creationId xmlns:a16="http://schemas.microsoft.com/office/drawing/2014/main" id="{8EF31725-462B-4FCF-877D-CA362737E4F0}"/>
              </a:ext>
            </a:extLst>
          </p:cNvPr>
          <p:cNvSpPr>
            <a:spLocks noGrp="1"/>
          </p:cNvSpPr>
          <p:nvPr/>
        </p:nvSpPr>
        <p:spPr>
          <a:xfrm>
            <a:off x="7905750" y="4171950"/>
            <a:ext cx="2047875" cy="1200150"/>
          </a:xfrm>
          <a:prstGeom prst="roundRect">
            <a:avLst>
              <a:gd name="adj" fmla="val 17460"/>
            </a:avLst>
          </a:prstGeom>
          <a:solidFill>
            <a:srgbClr val="FFFCF6"/>
          </a:solidFill>
          <a:ln w="9525">
            <a:solidFill>
              <a:srgbClr val="B9C9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pass-head-2">
            <a:extLst>
              <a:ext uri="{FF2B5EF4-FFF2-40B4-BE49-F238E27FC236}">
                <a16:creationId xmlns:a16="http://schemas.microsoft.com/office/drawing/2014/main" id="{E90A286A-A1BE-4486-A2E4-E80EF58D8C79}"/>
              </a:ext>
            </a:extLst>
          </p:cNvPr>
          <p:cNvSpPr>
            <a:spLocks noGrp="1"/>
          </p:cNvSpPr>
          <p:nvPr/>
        </p:nvSpPr>
        <p:spPr>
          <a:xfrm>
            <a:off x="8077200" y="4419600"/>
            <a:ext cx="1704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결제</a:t>
            </a:r>
          </a:p>
        </p:txBody>
      </p:sp>
      <p:sp>
        <p:nvSpPr>
          <p:cNvPr id="30" name="pass-body-2">
            <a:extLst>
              <a:ext uri="{FF2B5EF4-FFF2-40B4-BE49-F238E27FC236}">
                <a16:creationId xmlns:a16="http://schemas.microsoft.com/office/drawing/2014/main" id="{44B8AD9F-3000-4B00-A3CE-63F1B694B5EC}"/>
              </a:ext>
            </a:extLst>
          </p:cNvPr>
          <p:cNvSpPr>
            <a:spLocks noGrp="1"/>
          </p:cNvSpPr>
          <p:nvPr/>
        </p:nvSpPr>
        <p:spPr>
          <a:xfrm>
            <a:off x="8077200" y="4857750"/>
            <a:ext cx="17049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주문 마무리</a:t>
            </a:r>
          </a:p>
        </p:txBody>
      </p:sp>
      <p:pic>
        <p:nvPicPr>
          <p:cNvPr id="68" name="그림 6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6305550"/>
            <a:ext cx="266700" cy="266700"/>
          </a:xfrm>
          <a:prstGeom prst="rect">
            <a:avLst/>
          </a:prstGeom>
        </p:spPr>
      </p:pic>
      <p:sp>
        <p:nvSpPr>
          <p:cNvPr id="33" name="footer-brand-3">
            <a:extLst>
              <a:ext uri="{FF2B5EF4-FFF2-40B4-BE49-F238E27FC236}">
                <a16:creationId xmlns:a16="http://schemas.microsoft.com/office/drawing/2014/main" id="{2811968D-6BFF-4C52-B79A-E400682654AE}"/>
              </a:ext>
            </a:extLst>
          </p:cNvPr>
          <p:cNvSpPr>
            <a:spLocks noGrp="1"/>
          </p:cNvSpPr>
          <p:nvPr/>
        </p:nvSpPr>
        <p:spPr>
          <a:xfrm>
            <a:off x="1028700" y="63436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한끼패스</a:t>
            </a:r>
          </a:p>
        </p:txBody>
      </p:sp>
      <p:sp>
        <p:nvSpPr>
          <p:cNvPr id="34" name="footer-page-3">
            <a:extLst>
              <a:ext uri="{FF2B5EF4-FFF2-40B4-BE49-F238E27FC236}">
                <a16:creationId xmlns:a16="http://schemas.microsoft.com/office/drawing/2014/main" id="{552A709E-041D-4AF9-BC8F-3EB9BD5E2C5B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32" name="키오스크를 쉽게 쓰게 하기보다, 덜 쓰게 합니다-title">
            <a:extLst>
              <a:ext uri="{FF2B5EF4-FFF2-40B4-BE49-F238E27FC236}">
                <a16:creationId xmlns:a16="http://schemas.microsoft.com/office/drawing/2014/main" id="{C1A52A89-0E35-B27F-84ED-F1C6E716F426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22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3225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키오스크를</a:t>
            </a:r>
            <a:r>
              <a:rPr sz="3225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25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쉽게</a:t>
            </a:r>
            <a:r>
              <a:rPr sz="3225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25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쓰게</a:t>
            </a:r>
            <a:r>
              <a:rPr sz="3225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25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하기보다</a:t>
            </a:r>
            <a:r>
              <a:rPr sz="3225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3225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안</a:t>
            </a:r>
            <a:r>
              <a:rPr sz="3225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25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쓰게</a:t>
            </a:r>
            <a:r>
              <a:rPr sz="3225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25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합니다</a:t>
            </a:r>
            <a:endParaRPr sz="3225" b="1" dirty="0">
              <a:solidFill>
                <a:srgbClr val="123F32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735619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한 번 준비한 조합은 QR로 다시 불러옵니다-eyebrow">
            <a:extLst>
              <a:ext uri="{FF2B5EF4-FFF2-40B4-BE49-F238E27FC236}">
                <a16:creationId xmlns:a16="http://schemas.microsoft.com/office/drawing/2014/main" id="{CCD2EF24-B6F1-4E65-BC32-A4292C1FE6C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07B57"/>
                </a:solidFill>
                <a:latin typeface="Pretendard"/>
                <a:ea typeface="Pretendard"/>
                <a:cs typeface="Pretendard"/>
              </a:defRPr>
            </a:pPr>
            <a:r>
              <a:rPr lang="en-US" sz="2400" b="1" dirty="0">
                <a:solidFill>
                  <a:srgbClr val="F07B57"/>
                </a:solidFill>
                <a:latin typeface="Pretendard"/>
                <a:ea typeface="Pretendard"/>
                <a:cs typeface="Pretendard"/>
              </a:rPr>
              <a:t>Solution</a:t>
            </a:r>
            <a:endParaRPr sz="2400" b="1" dirty="0">
              <a:solidFill>
                <a:srgbClr val="F07B5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" name="한 번 준비한 조합은 QR로 다시 불러옵니다-title">
            <a:extLst>
              <a:ext uri="{FF2B5EF4-FFF2-40B4-BE49-F238E27FC236}">
                <a16:creationId xmlns:a16="http://schemas.microsoft.com/office/drawing/2014/main" id="{6A79F96B-5E49-41D5-B97A-89DF713CB06D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285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첫</a:t>
            </a:r>
            <a:r>
              <a:rPr sz="28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5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설정은</a:t>
            </a:r>
            <a:r>
              <a:rPr sz="28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5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함께</a:t>
            </a:r>
            <a:r>
              <a:rPr sz="28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285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이후</a:t>
            </a:r>
            <a:r>
              <a:rPr sz="28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5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주문은</a:t>
            </a:r>
            <a:r>
              <a:rPr sz="28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5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혼자</a:t>
            </a:r>
            <a:r>
              <a:rPr sz="28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5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합니다</a:t>
            </a:r>
            <a:endParaRPr sz="2850" b="1" dirty="0">
              <a:solidFill>
                <a:srgbClr val="123F3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journey-arrow-0">
            <a:extLst>
              <a:ext uri="{FF2B5EF4-FFF2-40B4-BE49-F238E27FC236}">
                <a16:creationId xmlns:a16="http://schemas.microsoft.com/office/drawing/2014/main" id="{8E7488C1-DCF9-4EB3-B697-48EB182F8FC7}"/>
              </a:ext>
            </a:extLst>
          </p:cNvPr>
          <p:cNvSpPr>
            <a:spLocks noGrp="1"/>
          </p:cNvSpPr>
          <p:nvPr/>
        </p:nvSpPr>
        <p:spPr>
          <a:xfrm>
            <a:off x="2952750" y="2933700"/>
            <a:ext cx="400050" cy="228600"/>
          </a:xfrm>
          <a:prstGeom prst="rightArrow">
            <a:avLst/>
          </a:prstGeom>
          <a:solidFill>
            <a:srgbClr val="F07B57"/>
          </a:solidFill>
          <a:ln w="0">
            <a:solidFill>
              <a:srgbClr val="F07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journey-arrow-1">
            <a:extLst>
              <a:ext uri="{FF2B5EF4-FFF2-40B4-BE49-F238E27FC236}">
                <a16:creationId xmlns:a16="http://schemas.microsoft.com/office/drawing/2014/main" id="{BB8A2DA6-9244-4561-8876-5378EFC3FF1A}"/>
              </a:ext>
            </a:extLst>
          </p:cNvPr>
          <p:cNvSpPr>
            <a:spLocks noGrp="1"/>
          </p:cNvSpPr>
          <p:nvPr/>
        </p:nvSpPr>
        <p:spPr>
          <a:xfrm>
            <a:off x="5600700" y="2933700"/>
            <a:ext cx="400050" cy="228600"/>
          </a:xfrm>
          <a:prstGeom prst="rightArrow">
            <a:avLst/>
          </a:prstGeom>
          <a:solidFill>
            <a:srgbClr val="F07B57"/>
          </a:solidFill>
          <a:ln w="0">
            <a:solidFill>
              <a:srgbClr val="F07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journey-arrow-2">
            <a:extLst>
              <a:ext uri="{FF2B5EF4-FFF2-40B4-BE49-F238E27FC236}">
                <a16:creationId xmlns:a16="http://schemas.microsoft.com/office/drawing/2014/main" id="{A830BA90-6F4B-4C3F-916F-30C4E9BFF694}"/>
              </a:ext>
            </a:extLst>
          </p:cNvPr>
          <p:cNvSpPr>
            <a:spLocks noGrp="1"/>
          </p:cNvSpPr>
          <p:nvPr/>
        </p:nvSpPr>
        <p:spPr>
          <a:xfrm>
            <a:off x="8248650" y="2933700"/>
            <a:ext cx="400050" cy="228600"/>
          </a:xfrm>
          <a:prstGeom prst="rightArrow">
            <a:avLst/>
          </a:prstGeom>
          <a:solidFill>
            <a:srgbClr val="F07B57"/>
          </a:solidFill>
          <a:ln w="0">
            <a:solidFill>
              <a:srgbClr val="F07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journey-box-0">
            <a:extLst>
              <a:ext uri="{FF2B5EF4-FFF2-40B4-BE49-F238E27FC236}">
                <a16:creationId xmlns:a16="http://schemas.microsoft.com/office/drawing/2014/main" id="{642AAA06-697F-4484-B73A-1E6652CE5BAD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2266950" cy="2095500"/>
          </a:xfrm>
          <a:prstGeom prst="roundRect">
            <a:avLst>
              <a:gd name="adj" fmla="val 11818"/>
            </a:avLst>
          </a:prstGeom>
          <a:solidFill>
            <a:srgbClr val="FFFCF6"/>
          </a:solidFill>
          <a:ln w="9525">
            <a:solidFill>
              <a:srgbClr val="D8D0C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7" name="journey-num-0">
            <a:extLst>
              <a:ext uri="{FF2B5EF4-FFF2-40B4-BE49-F238E27FC236}">
                <a16:creationId xmlns:a16="http://schemas.microsoft.com/office/drawing/2014/main" id="{4DC82CDF-B9E0-4A40-998C-F4EC4AEBDEFD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685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C8A58D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C8A58D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journey-head-0">
            <a:extLst>
              <a:ext uri="{FF2B5EF4-FFF2-40B4-BE49-F238E27FC236}">
                <a16:creationId xmlns:a16="http://schemas.microsoft.com/office/drawing/2014/main" id="{58B582D4-5135-457C-A858-377251DAA3BB}"/>
              </a:ext>
            </a:extLst>
          </p:cNvPr>
          <p:cNvSpPr>
            <a:spLocks noGrp="1"/>
          </p:cNvSpPr>
          <p:nvPr/>
        </p:nvSpPr>
        <p:spPr>
          <a:xfrm>
            <a:off x="914400" y="302895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함께 첫 설정</a:t>
            </a:r>
          </a:p>
        </p:txBody>
      </p:sp>
      <p:sp>
        <p:nvSpPr>
          <p:cNvPr id="9" name="journey-body-0">
            <a:extLst>
              <a:ext uri="{FF2B5EF4-FFF2-40B4-BE49-F238E27FC236}">
                <a16:creationId xmlns:a16="http://schemas.microsoft.com/office/drawing/2014/main" id="{0F91327F-C864-49CA-B7CA-BD6D54C90EC3}"/>
              </a:ext>
            </a:extLst>
          </p:cNvPr>
          <p:cNvSpPr>
            <a:spLocks noGrp="1"/>
          </p:cNvSpPr>
          <p:nvPr/>
        </p:nvSpPr>
        <p:spPr>
          <a:xfrm>
            <a:off x="914400" y="3524250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가족과 메뉴·옵션 저장</a:t>
            </a:r>
          </a:p>
        </p:txBody>
      </p:sp>
      <p:sp>
        <p:nvSpPr>
          <p:cNvPr id="10" name="journey-box-1">
            <a:extLst>
              <a:ext uri="{FF2B5EF4-FFF2-40B4-BE49-F238E27FC236}">
                <a16:creationId xmlns:a16="http://schemas.microsoft.com/office/drawing/2014/main" id="{BDD23F15-B40D-4C83-B6C4-C7E21EF6B24D}"/>
              </a:ext>
            </a:extLst>
          </p:cNvPr>
          <p:cNvSpPr>
            <a:spLocks noGrp="1"/>
          </p:cNvSpPr>
          <p:nvPr/>
        </p:nvSpPr>
        <p:spPr>
          <a:xfrm>
            <a:off x="3333750" y="2171700"/>
            <a:ext cx="2266950" cy="2095500"/>
          </a:xfrm>
          <a:prstGeom prst="roundRect">
            <a:avLst>
              <a:gd name="adj" fmla="val 11818"/>
            </a:avLst>
          </a:prstGeom>
          <a:solidFill>
            <a:srgbClr val="123F32"/>
          </a:solidFill>
          <a:ln w="9525">
            <a:solidFill>
              <a:srgbClr val="123F3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1" name="journey-num-1">
            <a:extLst>
              <a:ext uri="{FF2B5EF4-FFF2-40B4-BE49-F238E27FC236}">
                <a16:creationId xmlns:a16="http://schemas.microsoft.com/office/drawing/2014/main" id="{453C941F-B17A-4585-888B-AB2AF284B93A}"/>
              </a:ext>
            </a:extLst>
          </p:cNvPr>
          <p:cNvSpPr>
            <a:spLocks noGrp="1"/>
          </p:cNvSpPr>
          <p:nvPr/>
        </p:nvSpPr>
        <p:spPr>
          <a:xfrm>
            <a:off x="3562350" y="2381250"/>
            <a:ext cx="685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07B57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F07B57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2" name="journey-head-1">
            <a:extLst>
              <a:ext uri="{FF2B5EF4-FFF2-40B4-BE49-F238E27FC236}">
                <a16:creationId xmlns:a16="http://schemas.microsoft.com/office/drawing/2014/main" id="{7A147F76-E030-4114-837A-6BA5584586C2}"/>
              </a:ext>
            </a:extLst>
          </p:cNvPr>
          <p:cNvSpPr>
            <a:spLocks noGrp="1"/>
          </p:cNvSpPr>
          <p:nvPr/>
        </p:nvSpPr>
        <p:spPr>
          <a:xfrm>
            <a:off x="3562350" y="302895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FFCF6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FFFCF6"/>
                </a:solidFill>
                <a:latin typeface="Pretendard"/>
                <a:ea typeface="Pretendard"/>
                <a:cs typeface="Pretendard"/>
              </a:rPr>
              <a:t>QR 준비</a:t>
            </a:r>
          </a:p>
        </p:txBody>
      </p:sp>
      <p:sp>
        <p:nvSpPr>
          <p:cNvPr id="13" name="journey-body-1">
            <a:extLst>
              <a:ext uri="{FF2B5EF4-FFF2-40B4-BE49-F238E27FC236}">
                <a16:creationId xmlns:a16="http://schemas.microsoft.com/office/drawing/2014/main" id="{461B2D13-9D61-45EF-8593-9F6A9607DF95}"/>
              </a:ext>
            </a:extLst>
          </p:cNvPr>
          <p:cNvSpPr>
            <a:spLocks noGrp="1"/>
          </p:cNvSpPr>
          <p:nvPr/>
        </p:nvSpPr>
        <p:spPr>
          <a:xfrm>
            <a:off x="3562350" y="3524250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E8F0E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E8F0EA"/>
                </a:solidFill>
                <a:latin typeface="Pretendard"/>
                <a:ea typeface="Pretendard"/>
                <a:cs typeface="Pretendard"/>
              </a:rPr>
              <a:t>한 사람의 식별 QR 생성</a:t>
            </a:r>
          </a:p>
        </p:txBody>
      </p:sp>
      <p:sp>
        <p:nvSpPr>
          <p:cNvPr id="14" name="journey-box-2">
            <a:extLst>
              <a:ext uri="{FF2B5EF4-FFF2-40B4-BE49-F238E27FC236}">
                <a16:creationId xmlns:a16="http://schemas.microsoft.com/office/drawing/2014/main" id="{CF157D60-27BE-4E50-A141-B562E5AF326E}"/>
              </a:ext>
            </a:extLst>
          </p:cNvPr>
          <p:cNvSpPr>
            <a:spLocks noGrp="1"/>
          </p:cNvSpPr>
          <p:nvPr/>
        </p:nvSpPr>
        <p:spPr>
          <a:xfrm>
            <a:off x="5981700" y="2171700"/>
            <a:ext cx="2266950" cy="2095500"/>
          </a:xfrm>
          <a:prstGeom prst="roundRect">
            <a:avLst>
              <a:gd name="adj" fmla="val 11818"/>
            </a:avLst>
          </a:prstGeom>
          <a:solidFill>
            <a:srgbClr val="FFFCF6"/>
          </a:solidFill>
          <a:ln w="9525">
            <a:solidFill>
              <a:srgbClr val="D8D0C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5" name="journey-num-2">
            <a:extLst>
              <a:ext uri="{FF2B5EF4-FFF2-40B4-BE49-F238E27FC236}">
                <a16:creationId xmlns:a16="http://schemas.microsoft.com/office/drawing/2014/main" id="{19B4FA74-6445-408E-B6A0-A9FB02CFECD0}"/>
              </a:ext>
            </a:extLst>
          </p:cNvPr>
          <p:cNvSpPr>
            <a:spLocks noGrp="1"/>
          </p:cNvSpPr>
          <p:nvPr/>
        </p:nvSpPr>
        <p:spPr>
          <a:xfrm>
            <a:off x="6210300" y="2381250"/>
            <a:ext cx="685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C8A58D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C8A58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6" name="journey-head-2">
            <a:extLst>
              <a:ext uri="{FF2B5EF4-FFF2-40B4-BE49-F238E27FC236}">
                <a16:creationId xmlns:a16="http://schemas.microsoft.com/office/drawing/2014/main" id="{67D9BC1C-0032-4DA3-8372-71B3495C223A}"/>
              </a:ext>
            </a:extLst>
          </p:cNvPr>
          <p:cNvSpPr>
            <a:spLocks noGrp="1"/>
          </p:cNvSpPr>
          <p:nvPr/>
        </p:nvSpPr>
        <p:spPr>
          <a:xfrm>
            <a:off x="6210300" y="302895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매장에서 스캔</a:t>
            </a:r>
          </a:p>
        </p:txBody>
      </p:sp>
      <p:sp>
        <p:nvSpPr>
          <p:cNvPr id="17" name="journey-body-2">
            <a:extLst>
              <a:ext uri="{FF2B5EF4-FFF2-40B4-BE49-F238E27FC236}">
                <a16:creationId xmlns:a16="http://schemas.microsoft.com/office/drawing/2014/main" id="{9542265D-B17A-4033-82DE-A17122B8DBEE}"/>
              </a:ext>
            </a:extLst>
          </p:cNvPr>
          <p:cNvSpPr>
            <a:spLocks noGrp="1"/>
          </p:cNvSpPr>
          <p:nvPr/>
        </p:nvSpPr>
        <p:spPr>
          <a:xfrm>
            <a:off x="6210300" y="3524250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키오스크에 QR 제시</a:t>
            </a:r>
          </a:p>
        </p:txBody>
      </p:sp>
      <p:sp>
        <p:nvSpPr>
          <p:cNvPr id="18" name="journey-box-3">
            <a:extLst>
              <a:ext uri="{FF2B5EF4-FFF2-40B4-BE49-F238E27FC236}">
                <a16:creationId xmlns:a16="http://schemas.microsoft.com/office/drawing/2014/main" id="{436CA08B-7940-45FF-85AC-04400B224E18}"/>
              </a:ext>
            </a:extLst>
          </p:cNvPr>
          <p:cNvSpPr>
            <a:spLocks noGrp="1"/>
          </p:cNvSpPr>
          <p:nvPr/>
        </p:nvSpPr>
        <p:spPr>
          <a:xfrm>
            <a:off x="8629650" y="2171700"/>
            <a:ext cx="2266950" cy="2095500"/>
          </a:xfrm>
          <a:prstGeom prst="roundRect">
            <a:avLst>
              <a:gd name="adj" fmla="val 11818"/>
            </a:avLst>
          </a:prstGeom>
          <a:solidFill>
            <a:srgbClr val="FFFCF6"/>
          </a:solidFill>
          <a:ln w="9525">
            <a:solidFill>
              <a:srgbClr val="D8D0C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9" name="journey-num-3">
            <a:extLst>
              <a:ext uri="{FF2B5EF4-FFF2-40B4-BE49-F238E27FC236}">
                <a16:creationId xmlns:a16="http://schemas.microsoft.com/office/drawing/2014/main" id="{F061753D-45C8-4F15-97FE-97E34B96041E}"/>
              </a:ext>
            </a:extLst>
          </p:cNvPr>
          <p:cNvSpPr>
            <a:spLocks noGrp="1"/>
          </p:cNvSpPr>
          <p:nvPr/>
        </p:nvSpPr>
        <p:spPr>
          <a:xfrm>
            <a:off x="8858250" y="2381250"/>
            <a:ext cx="685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C8A58D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C8A58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0" name="journey-head-3">
            <a:extLst>
              <a:ext uri="{FF2B5EF4-FFF2-40B4-BE49-F238E27FC236}">
                <a16:creationId xmlns:a16="http://schemas.microsoft.com/office/drawing/2014/main" id="{8E1BC486-04E0-406B-BA94-1B2CF4C04679}"/>
              </a:ext>
            </a:extLst>
          </p:cNvPr>
          <p:cNvSpPr>
            <a:spLocks noGrp="1"/>
          </p:cNvSpPr>
          <p:nvPr/>
        </p:nvSpPr>
        <p:spPr>
          <a:xfrm>
            <a:off x="8858250" y="302895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혼자 확인</a:t>
            </a:r>
          </a:p>
        </p:txBody>
      </p:sp>
      <p:sp>
        <p:nvSpPr>
          <p:cNvPr id="21" name="journey-body-3">
            <a:extLst>
              <a:ext uri="{FF2B5EF4-FFF2-40B4-BE49-F238E27FC236}">
                <a16:creationId xmlns:a16="http://schemas.microsoft.com/office/drawing/2014/main" id="{993317BD-A13B-48FF-829A-089BF709FB81}"/>
              </a:ext>
            </a:extLst>
          </p:cNvPr>
          <p:cNvSpPr>
            <a:spLocks noGrp="1"/>
          </p:cNvSpPr>
          <p:nvPr/>
        </p:nvSpPr>
        <p:spPr>
          <a:xfrm>
            <a:off x="8858250" y="3524250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호출 메뉴 확인 후 결제</a:t>
            </a:r>
          </a:p>
        </p:txBody>
      </p:sp>
      <p:sp>
        <p:nvSpPr>
          <p:cNvPr id="22" name="mvp-boundary-band">
            <a:extLst>
              <a:ext uri="{FF2B5EF4-FFF2-40B4-BE49-F238E27FC236}">
                <a16:creationId xmlns:a16="http://schemas.microsoft.com/office/drawing/2014/main" id="{5A3FDB31-BFC5-4C8F-9752-2E16BED94811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820400" cy="914400"/>
          </a:xfrm>
          <a:prstGeom prst="roundRect">
            <a:avLst>
              <a:gd name="adj" fmla="val 20833"/>
            </a:avLst>
          </a:prstGeom>
          <a:solidFill>
            <a:srgbClr val="E6EEE8"/>
          </a:solidFill>
          <a:ln w="9525">
            <a:solidFill>
              <a:srgbClr val="C7D8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mvp-boundary-label">
            <a:extLst>
              <a:ext uri="{FF2B5EF4-FFF2-40B4-BE49-F238E27FC236}">
                <a16:creationId xmlns:a16="http://schemas.microsoft.com/office/drawing/2014/main" id="{720E005D-B949-4F19-9F4A-8B600443AED6}"/>
              </a:ext>
            </a:extLst>
          </p:cNvPr>
          <p:cNvSpPr>
            <a:spLocks noGrp="1"/>
          </p:cNvSpPr>
          <p:nvPr/>
        </p:nvSpPr>
        <p:spPr>
          <a:xfrm>
            <a:off x="952500" y="4981575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C5A4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C5A48"/>
                </a:solidFill>
                <a:latin typeface="Pretendard"/>
                <a:ea typeface="Pretendard"/>
                <a:cs typeface="Pretendard"/>
              </a:rPr>
              <a:t>현재 MVP</a:t>
            </a:r>
          </a:p>
        </p:txBody>
      </p:sp>
      <p:sp>
        <p:nvSpPr>
          <p:cNvPr id="24" name="mvp-boundary-copy">
            <a:extLst>
              <a:ext uri="{FF2B5EF4-FFF2-40B4-BE49-F238E27FC236}">
                <a16:creationId xmlns:a16="http://schemas.microsoft.com/office/drawing/2014/main" id="{B19145BF-0F53-468A-838A-2601F04D958E}"/>
              </a:ext>
            </a:extLst>
          </p:cNvPr>
          <p:cNvSpPr>
            <a:spLocks noGrp="1"/>
          </p:cNvSpPr>
          <p:nvPr/>
        </p:nvSpPr>
        <p:spPr>
          <a:xfrm>
            <a:off x="2381250" y="4933950"/>
            <a:ext cx="8715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6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고령 </a:t>
            </a:r>
            <a:r>
              <a:rPr sz="165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사용자</a:t>
            </a:r>
            <a:r>
              <a:rPr lang="ko-KR" altLang="en-US" sz="16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가 </a:t>
            </a:r>
            <a:r>
              <a:rPr lang="en-US" altLang="ko-KR" sz="16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QR code</a:t>
            </a:r>
            <a:r>
              <a:rPr lang="ko-KR" altLang="en-US" sz="16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만으로 외부</a:t>
            </a:r>
            <a:r>
              <a:rPr sz="16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도움</a:t>
            </a:r>
            <a:r>
              <a:rPr sz="16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없이</a:t>
            </a:r>
            <a:r>
              <a:rPr sz="16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주문을</a:t>
            </a:r>
            <a:r>
              <a:rPr sz="16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마칠</a:t>
            </a:r>
            <a:r>
              <a:rPr sz="16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수</a:t>
            </a:r>
            <a:r>
              <a:rPr sz="16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1" dirty="0" err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있습니다</a:t>
            </a:r>
            <a:r>
              <a:rPr sz="16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pic>
        <p:nvPicPr>
          <p:cNvPr id="54" name="그림 5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6305550"/>
            <a:ext cx="266700" cy="266700"/>
          </a:xfrm>
          <a:prstGeom prst="rect">
            <a:avLst/>
          </a:prstGeom>
        </p:spPr>
      </p:pic>
      <p:sp>
        <p:nvSpPr>
          <p:cNvPr id="26" name="footer-brand-4">
            <a:extLst>
              <a:ext uri="{FF2B5EF4-FFF2-40B4-BE49-F238E27FC236}">
                <a16:creationId xmlns:a16="http://schemas.microsoft.com/office/drawing/2014/main" id="{611A0413-5506-4EFE-85FB-7E8CF696E95A}"/>
              </a:ext>
            </a:extLst>
          </p:cNvPr>
          <p:cNvSpPr>
            <a:spLocks noGrp="1"/>
          </p:cNvSpPr>
          <p:nvPr/>
        </p:nvSpPr>
        <p:spPr>
          <a:xfrm>
            <a:off x="1028700" y="63436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한끼패스</a:t>
            </a:r>
          </a:p>
        </p:txBody>
      </p:sp>
      <p:sp>
        <p:nvSpPr>
          <p:cNvPr id="27" name="footer-page-4">
            <a:extLst>
              <a:ext uri="{FF2B5EF4-FFF2-40B4-BE49-F238E27FC236}">
                <a16:creationId xmlns:a16="http://schemas.microsoft.com/office/drawing/2014/main" id="{CE5AE615-AA09-49D9-801F-FC5422762B75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80247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76677-C30A-AE94-4588-06254A914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7">
            <a:extLst>
              <a:ext uri="{FF2B5EF4-FFF2-40B4-BE49-F238E27FC236}">
                <a16:creationId xmlns:a16="http://schemas.microsoft.com/office/drawing/2014/main" id="{87DFC5F6-018D-4263-21C5-DABDCD6830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on-eyebrow">
            <a:extLst>
              <a:ext uri="{FF2B5EF4-FFF2-40B4-BE49-F238E27FC236}">
                <a16:creationId xmlns:a16="http://schemas.microsoft.com/office/drawing/2014/main" id="{64F28683-7489-0277-0949-DB5245AC37DF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07B57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2000" b="1" dirty="0">
                <a:solidFill>
                  <a:srgbClr val="F07B57"/>
                </a:solidFill>
                <a:latin typeface="Pretendard"/>
                <a:ea typeface="Pretendard"/>
                <a:cs typeface="Pretendard"/>
              </a:rPr>
              <a:t>UX</a:t>
            </a:r>
            <a:endParaRPr sz="2000" b="1" dirty="0">
              <a:solidFill>
                <a:srgbClr val="F07B5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vision-tagline">
            <a:extLst>
              <a:ext uri="{FF2B5EF4-FFF2-40B4-BE49-F238E27FC236}">
                <a16:creationId xmlns:a16="http://schemas.microsoft.com/office/drawing/2014/main" id="{CA13BC00-65CC-B151-03CD-D8B880C12FE0}"/>
              </a:ext>
            </a:extLst>
          </p:cNvPr>
          <p:cNvSpPr>
            <a:spLocks noGrp="1"/>
          </p:cNvSpPr>
          <p:nvPr/>
        </p:nvSpPr>
        <p:spPr>
          <a:xfrm>
            <a:off x="685800" y="25146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C5A48"/>
                </a:solidFill>
                <a:latin typeface="Pretendard"/>
                <a:ea typeface="Pretendard"/>
                <a:cs typeface="Pretendard"/>
              </a:defRPr>
            </a:pPr>
            <a:endParaRPr sz="1425" b="1" dirty="0">
              <a:solidFill>
                <a:srgbClr val="1C5A4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footer-brand-demo">
            <a:extLst>
              <a:ext uri="{FF2B5EF4-FFF2-40B4-BE49-F238E27FC236}">
                <a16:creationId xmlns:a16="http://schemas.microsoft.com/office/drawing/2014/main" id="{9EDEF538-9EB5-72D6-5849-7DE7B70C53FB}"/>
              </a:ext>
            </a:extLst>
          </p:cNvPr>
          <p:cNvSpPr>
            <a:spLocks noGrp="1"/>
          </p:cNvSpPr>
          <p:nvPr/>
        </p:nvSpPr>
        <p:spPr>
          <a:xfrm>
            <a:off x="1028700" y="63436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23F32"/>
                </a:solidFill>
              </a:defRPr>
            </a:pPr>
            <a:r>
              <a:rPr sz="900" b="1">
                <a:solidFill>
                  <a:srgbClr val="123F32"/>
                </a:solidFill>
              </a:rPr>
              <a:t>한끼패스</a:t>
            </a:r>
          </a:p>
        </p:txBody>
      </p:sp>
      <p:sp>
        <p:nvSpPr>
          <p:cNvPr id="20" name="footer-page-demo">
            <a:extLst>
              <a:ext uri="{FF2B5EF4-FFF2-40B4-BE49-F238E27FC236}">
                <a16:creationId xmlns:a16="http://schemas.microsoft.com/office/drawing/2014/main" id="{F8B2A93A-5236-BB17-AC1F-CB391CB9A0C2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9E8F7A"/>
                </a:solidFill>
              </a:defRPr>
            </a:pPr>
            <a:r>
              <a:rPr sz="900">
                <a:solidFill>
                  <a:srgbClr val="9E8F7A"/>
                </a:solidFill>
              </a:rPr>
              <a:t>07</a:t>
            </a:r>
          </a:p>
        </p:txBody>
      </p:sp>
      <p:pic>
        <p:nvPicPr>
          <p:cNvPr id="8" name="그림 7" descr="이미지">
            <a:extLst>
              <a:ext uri="{FF2B5EF4-FFF2-40B4-BE49-F238E27FC236}">
                <a16:creationId xmlns:a16="http://schemas.microsoft.com/office/drawing/2014/main" id="{BF347FA3-3320-D599-75D7-446277AA9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375" y="148628"/>
            <a:ext cx="2203450" cy="6299797"/>
          </a:xfrm>
          <a:prstGeom prst="rect">
            <a:avLst/>
          </a:prstGeom>
        </p:spPr>
      </p:pic>
      <p:pic>
        <p:nvPicPr>
          <p:cNvPr id="11" name="그림 10" descr="이미지">
            <a:extLst>
              <a:ext uri="{FF2B5EF4-FFF2-40B4-BE49-F238E27FC236}">
                <a16:creationId xmlns:a16="http://schemas.microsoft.com/office/drawing/2014/main" id="{CEB9C72F-DF38-6CC9-076F-BCAB6C3C63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8300" y="253403"/>
            <a:ext cx="2142203" cy="6195022"/>
          </a:xfrm>
          <a:prstGeom prst="rect">
            <a:avLst/>
          </a:prstGeom>
        </p:spPr>
      </p:pic>
      <p:pic>
        <p:nvPicPr>
          <p:cNvPr id="14" name="그림 13" descr="이미지">
            <a:extLst>
              <a:ext uri="{FF2B5EF4-FFF2-40B4-BE49-F238E27FC236}">
                <a16:creationId xmlns:a16="http://schemas.microsoft.com/office/drawing/2014/main" id="{CBB84AE0-8289-872D-221B-7EAA3D2B3B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6178" y="207901"/>
            <a:ext cx="2217122" cy="639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800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키오스크를 쉽게 쓰게 하기보다, 덜 쓰게 합니다-eyebrow">
            <a:extLst>
              <a:ext uri="{FF2B5EF4-FFF2-40B4-BE49-F238E27FC236}">
                <a16:creationId xmlns:a16="http://schemas.microsoft.com/office/drawing/2014/main" id="{BC3DEB71-A920-44E7-93D2-E2FB864466D9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07B57"/>
                </a:solidFill>
                <a:latin typeface="Pretendard"/>
                <a:ea typeface="Pretendard"/>
                <a:cs typeface="Pretendard"/>
              </a:defRPr>
            </a:pPr>
            <a:r>
              <a:rPr sz="2400" b="1" dirty="0">
                <a:solidFill>
                  <a:srgbClr val="F07B57"/>
                </a:solidFill>
                <a:latin typeface="Pretendard"/>
                <a:ea typeface="Pretendard"/>
                <a:cs typeface="Pretendard"/>
              </a:rPr>
              <a:t>Differentiation</a:t>
            </a:r>
          </a:p>
        </p:txBody>
      </p:sp>
      <p:sp>
        <p:nvSpPr>
          <p:cNvPr id="2" name="키오스크를 쉽게 쓰게 하기보다, 덜 쓰게 합니다-title">
            <a:extLst>
              <a:ext uri="{FF2B5EF4-FFF2-40B4-BE49-F238E27FC236}">
                <a16:creationId xmlns:a16="http://schemas.microsoft.com/office/drawing/2014/main" id="{1EAE0D4C-F5AA-41F8-AFE3-82A3DC1FDD51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8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매번 다른 앱 다른 </a:t>
            </a:r>
            <a:r>
              <a:rPr lang="en-US" altLang="ko-KR" sz="28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QR</a:t>
            </a:r>
            <a:r>
              <a:rPr lang="ko-KR" altLang="en-US" sz="2850" b="1" dirty="0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을 사용하지 않아도 됩니다</a:t>
            </a:r>
            <a:endParaRPr sz="2850" b="1" dirty="0">
              <a:solidFill>
                <a:srgbClr val="123F3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legacy-arrow-0">
            <a:extLst>
              <a:ext uri="{FF2B5EF4-FFF2-40B4-BE49-F238E27FC236}">
                <a16:creationId xmlns:a16="http://schemas.microsoft.com/office/drawing/2014/main" id="{12A974CA-8F40-4EC8-B97C-32CF32A929CC}"/>
              </a:ext>
            </a:extLst>
          </p:cNvPr>
          <p:cNvSpPr>
            <a:spLocks noGrp="1"/>
          </p:cNvSpPr>
          <p:nvPr/>
        </p:nvSpPr>
        <p:spPr>
          <a:xfrm>
            <a:off x="4619625" y="2133600"/>
            <a:ext cx="514350" cy="209550"/>
          </a:xfrm>
          <a:prstGeom prst="rightArrow">
            <a:avLst/>
          </a:prstGeom>
          <a:solidFill>
            <a:srgbClr val="C9C3B8"/>
          </a:solidFill>
          <a:ln w="0">
            <a:solidFill>
              <a:srgbClr val="C9C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legacy-arrow-1">
            <a:extLst>
              <a:ext uri="{FF2B5EF4-FFF2-40B4-BE49-F238E27FC236}">
                <a16:creationId xmlns:a16="http://schemas.microsoft.com/office/drawing/2014/main" id="{C759CA4D-CA3E-45E9-B76E-6791600194AF}"/>
              </a:ext>
            </a:extLst>
          </p:cNvPr>
          <p:cNvSpPr>
            <a:spLocks noGrp="1"/>
          </p:cNvSpPr>
          <p:nvPr/>
        </p:nvSpPr>
        <p:spPr>
          <a:xfrm>
            <a:off x="6572250" y="2133600"/>
            <a:ext cx="514350" cy="209550"/>
          </a:xfrm>
          <a:prstGeom prst="rightArrow">
            <a:avLst/>
          </a:prstGeom>
          <a:solidFill>
            <a:srgbClr val="C9C3B8"/>
          </a:solidFill>
          <a:ln w="0">
            <a:solidFill>
              <a:srgbClr val="C9C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legacy-arrow-2">
            <a:extLst>
              <a:ext uri="{FF2B5EF4-FFF2-40B4-BE49-F238E27FC236}">
                <a16:creationId xmlns:a16="http://schemas.microsoft.com/office/drawing/2014/main" id="{5762D351-E2A4-4AB9-9A07-F38A4D342AAC}"/>
              </a:ext>
            </a:extLst>
          </p:cNvPr>
          <p:cNvSpPr>
            <a:spLocks noGrp="1"/>
          </p:cNvSpPr>
          <p:nvPr/>
        </p:nvSpPr>
        <p:spPr>
          <a:xfrm>
            <a:off x="8524875" y="2133600"/>
            <a:ext cx="514350" cy="209550"/>
          </a:xfrm>
          <a:prstGeom prst="rightArrow">
            <a:avLst/>
          </a:prstGeom>
          <a:solidFill>
            <a:srgbClr val="C9C3B8"/>
          </a:solidFill>
          <a:ln w="0">
            <a:solidFill>
              <a:srgbClr val="C9C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ass-arrow-0">
            <a:extLst>
              <a:ext uri="{FF2B5EF4-FFF2-40B4-BE49-F238E27FC236}">
                <a16:creationId xmlns:a16="http://schemas.microsoft.com/office/drawing/2014/main" id="{E89511E9-92BA-4922-A2DC-05B71AF43D71}"/>
              </a:ext>
            </a:extLst>
          </p:cNvPr>
          <p:cNvSpPr>
            <a:spLocks noGrp="1"/>
          </p:cNvSpPr>
          <p:nvPr/>
        </p:nvSpPr>
        <p:spPr>
          <a:xfrm>
            <a:off x="5762625" y="4286250"/>
            <a:ext cx="666750" cy="228600"/>
          </a:xfrm>
          <a:prstGeom prst="rightArrow">
            <a:avLst/>
          </a:prstGeom>
          <a:solidFill>
            <a:srgbClr val="F07B57"/>
          </a:solidFill>
          <a:ln w="0">
            <a:solidFill>
              <a:srgbClr val="F07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pass-arrow-1">
            <a:extLst>
              <a:ext uri="{FF2B5EF4-FFF2-40B4-BE49-F238E27FC236}">
                <a16:creationId xmlns:a16="http://schemas.microsoft.com/office/drawing/2014/main" id="{426236BC-93F2-41D1-A042-EC7B858C075E}"/>
              </a:ext>
            </a:extLst>
          </p:cNvPr>
          <p:cNvSpPr>
            <a:spLocks noGrp="1"/>
          </p:cNvSpPr>
          <p:nvPr/>
        </p:nvSpPr>
        <p:spPr>
          <a:xfrm>
            <a:off x="8191500" y="4286250"/>
            <a:ext cx="666750" cy="228600"/>
          </a:xfrm>
          <a:prstGeom prst="rightArrow">
            <a:avLst/>
          </a:prstGeom>
          <a:solidFill>
            <a:srgbClr val="F07B57"/>
          </a:solidFill>
          <a:ln w="0">
            <a:solidFill>
              <a:srgbClr val="F07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legacy-label">
            <a:extLst>
              <a:ext uri="{FF2B5EF4-FFF2-40B4-BE49-F238E27FC236}">
                <a16:creationId xmlns:a16="http://schemas.microsoft.com/office/drawing/2014/main" id="{D2F6F7E3-3151-4977-A0B2-D9B20CA176F4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일반 메뉴 QR</a:t>
            </a:r>
          </a:p>
        </p:txBody>
      </p:sp>
      <p:sp>
        <p:nvSpPr>
          <p:cNvPr id="9" name="legacy-box-0">
            <a:extLst>
              <a:ext uri="{FF2B5EF4-FFF2-40B4-BE49-F238E27FC236}">
                <a16:creationId xmlns:a16="http://schemas.microsoft.com/office/drawing/2014/main" id="{D711E55B-2D56-4B4E-86ED-EF271ACF301E}"/>
              </a:ext>
            </a:extLst>
          </p:cNvPr>
          <p:cNvSpPr>
            <a:spLocks noGrp="1"/>
          </p:cNvSpPr>
          <p:nvPr/>
        </p:nvSpPr>
        <p:spPr>
          <a:xfrm>
            <a:off x="3000375" y="1771650"/>
            <a:ext cx="1619250" cy="952500"/>
          </a:xfrm>
          <a:prstGeom prst="roundRect">
            <a:avLst>
              <a:gd name="adj" fmla="val 18000"/>
            </a:avLst>
          </a:prstGeom>
          <a:solidFill>
            <a:srgbClr val="F2EEE6"/>
          </a:solidFill>
          <a:ln w="9525">
            <a:solidFill>
              <a:srgbClr val="D4CD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legacy-head-0">
            <a:extLst>
              <a:ext uri="{FF2B5EF4-FFF2-40B4-BE49-F238E27FC236}">
                <a16:creationId xmlns:a16="http://schemas.microsoft.com/office/drawing/2014/main" id="{FB33E5C9-59D3-41BF-8221-284A295B9335}"/>
              </a:ext>
            </a:extLst>
          </p:cNvPr>
          <p:cNvSpPr>
            <a:spLocks noGrp="1"/>
          </p:cNvSpPr>
          <p:nvPr/>
        </p:nvSpPr>
        <p:spPr>
          <a:xfrm>
            <a:off x="3152775" y="1952625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6F746F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6F746F"/>
                </a:solidFill>
                <a:latin typeface="Pretendard"/>
                <a:ea typeface="Pretendard"/>
                <a:cs typeface="Pretendard"/>
              </a:rPr>
              <a:t>메뉴 탐색</a:t>
            </a:r>
          </a:p>
        </p:txBody>
      </p:sp>
      <p:sp>
        <p:nvSpPr>
          <p:cNvPr id="11" name="legacy-body-0">
            <a:extLst>
              <a:ext uri="{FF2B5EF4-FFF2-40B4-BE49-F238E27FC236}">
                <a16:creationId xmlns:a16="http://schemas.microsoft.com/office/drawing/2014/main" id="{3D8A2FAD-141E-4222-983B-ECF46E47BCF6}"/>
              </a:ext>
            </a:extLst>
          </p:cNvPr>
          <p:cNvSpPr>
            <a:spLocks noGrp="1"/>
          </p:cNvSpPr>
          <p:nvPr/>
        </p:nvSpPr>
        <p:spPr>
          <a:xfrm>
            <a:off x="3152775" y="2324100"/>
            <a:ext cx="1314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858B85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858B85"/>
                </a:solidFill>
                <a:latin typeface="Pretendard"/>
                <a:ea typeface="Pretendard"/>
                <a:cs typeface="Pretendard"/>
              </a:rPr>
              <a:t>처음부터 찾기</a:t>
            </a:r>
          </a:p>
        </p:txBody>
      </p:sp>
      <p:sp>
        <p:nvSpPr>
          <p:cNvPr id="12" name="legacy-box-1">
            <a:extLst>
              <a:ext uri="{FF2B5EF4-FFF2-40B4-BE49-F238E27FC236}">
                <a16:creationId xmlns:a16="http://schemas.microsoft.com/office/drawing/2014/main" id="{F45CB755-0D61-4045-9F79-380E5CF1C119}"/>
              </a:ext>
            </a:extLst>
          </p:cNvPr>
          <p:cNvSpPr>
            <a:spLocks noGrp="1"/>
          </p:cNvSpPr>
          <p:nvPr/>
        </p:nvSpPr>
        <p:spPr>
          <a:xfrm>
            <a:off x="4953000" y="1771650"/>
            <a:ext cx="1619250" cy="952500"/>
          </a:xfrm>
          <a:prstGeom prst="roundRect">
            <a:avLst>
              <a:gd name="adj" fmla="val 18000"/>
            </a:avLst>
          </a:prstGeom>
          <a:solidFill>
            <a:srgbClr val="F2EEE6"/>
          </a:solidFill>
          <a:ln w="9525">
            <a:solidFill>
              <a:srgbClr val="D4CD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legacy-head-1">
            <a:extLst>
              <a:ext uri="{FF2B5EF4-FFF2-40B4-BE49-F238E27FC236}">
                <a16:creationId xmlns:a16="http://schemas.microsoft.com/office/drawing/2014/main" id="{75FD8376-35D1-4E18-827B-13D06A4B8D84}"/>
              </a:ext>
            </a:extLst>
          </p:cNvPr>
          <p:cNvSpPr>
            <a:spLocks noGrp="1"/>
          </p:cNvSpPr>
          <p:nvPr/>
        </p:nvSpPr>
        <p:spPr>
          <a:xfrm>
            <a:off x="5105400" y="1952625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6F746F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6F746F"/>
                </a:solidFill>
                <a:latin typeface="Pretendard"/>
                <a:ea typeface="Pretendard"/>
                <a:cs typeface="Pretendard"/>
              </a:rPr>
              <a:t>옵션 선택</a:t>
            </a:r>
          </a:p>
        </p:txBody>
      </p:sp>
      <p:sp>
        <p:nvSpPr>
          <p:cNvPr id="14" name="legacy-body-1">
            <a:extLst>
              <a:ext uri="{FF2B5EF4-FFF2-40B4-BE49-F238E27FC236}">
                <a16:creationId xmlns:a16="http://schemas.microsoft.com/office/drawing/2014/main" id="{E562FC92-A8FE-4C4D-8C7A-59F0C1BB9328}"/>
              </a:ext>
            </a:extLst>
          </p:cNvPr>
          <p:cNvSpPr>
            <a:spLocks noGrp="1"/>
          </p:cNvSpPr>
          <p:nvPr/>
        </p:nvSpPr>
        <p:spPr>
          <a:xfrm>
            <a:off x="5105400" y="2324100"/>
            <a:ext cx="1314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858B85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858B85"/>
                </a:solidFill>
                <a:latin typeface="Pretendard"/>
                <a:ea typeface="Pretendard"/>
                <a:cs typeface="Pretendard"/>
              </a:rPr>
              <a:t>세부 설정</a:t>
            </a:r>
          </a:p>
        </p:txBody>
      </p:sp>
      <p:sp>
        <p:nvSpPr>
          <p:cNvPr id="15" name="legacy-box-2">
            <a:extLst>
              <a:ext uri="{FF2B5EF4-FFF2-40B4-BE49-F238E27FC236}">
                <a16:creationId xmlns:a16="http://schemas.microsoft.com/office/drawing/2014/main" id="{4EFAE960-CC01-4B8A-9EEB-8BA620D0505D}"/>
              </a:ext>
            </a:extLst>
          </p:cNvPr>
          <p:cNvSpPr>
            <a:spLocks noGrp="1"/>
          </p:cNvSpPr>
          <p:nvPr/>
        </p:nvSpPr>
        <p:spPr>
          <a:xfrm>
            <a:off x="6905625" y="1771650"/>
            <a:ext cx="1619250" cy="952500"/>
          </a:xfrm>
          <a:prstGeom prst="roundRect">
            <a:avLst>
              <a:gd name="adj" fmla="val 18000"/>
            </a:avLst>
          </a:prstGeom>
          <a:solidFill>
            <a:srgbClr val="F2EEE6"/>
          </a:solidFill>
          <a:ln w="9525">
            <a:solidFill>
              <a:srgbClr val="D4CD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legacy-head-2">
            <a:extLst>
              <a:ext uri="{FF2B5EF4-FFF2-40B4-BE49-F238E27FC236}">
                <a16:creationId xmlns:a16="http://schemas.microsoft.com/office/drawing/2014/main" id="{5C16B151-0815-41D0-B6B8-B985609C5DC8}"/>
              </a:ext>
            </a:extLst>
          </p:cNvPr>
          <p:cNvSpPr>
            <a:spLocks noGrp="1"/>
          </p:cNvSpPr>
          <p:nvPr/>
        </p:nvSpPr>
        <p:spPr>
          <a:xfrm>
            <a:off x="7058025" y="1952625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6F746F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6F746F"/>
                </a:solidFill>
                <a:latin typeface="Pretendard"/>
                <a:ea typeface="Pretendard"/>
                <a:cs typeface="Pretendard"/>
              </a:rPr>
              <a:t>포장 여부</a:t>
            </a:r>
          </a:p>
        </p:txBody>
      </p:sp>
      <p:sp>
        <p:nvSpPr>
          <p:cNvPr id="17" name="legacy-body-2">
            <a:extLst>
              <a:ext uri="{FF2B5EF4-FFF2-40B4-BE49-F238E27FC236}">
                <a16:creationId xmlns:a16="http://schemas.microsoft.com/office/drawing/2014/main" id="{414C3663-CA9C-4E1C-A00A-B5C16D42D526}"/>
              </a:ext>
            </a:extLst>
          </p:cNvPr>
          <p:cNvSpPr>
            <a:spLocks noGrp="1"/>
          </p:cNvSpPr>
          <p:nvPr/>
        </p:nvSpPr>
        <p:spPr>
          <a:xfrm>
            <a:off x="7058025" y="2324100"/>
            <a:ext cx="1314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858B85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858B85"/>
                </a:solidFill>
                <a:latin typeface="Pretendard"/>
                <a:ea typeface="Pretendard"/>
                <a:cs typeface="Pretendard"/>
              </a:rPr>
              <a:t>추가 확인</a:t>
            </a:r>
          </a:p>
        </p:txBody>
      </p:sp>
      <p:sp>
        <p:nvSpPr>
          <p:cNvPr id="18" name="legacy-box-3">
            <a:extLst>
              <a:ext uri="{FF2B5EF4-FFF2-40B4-BE49-F238E27FC236}">
                <a16:creationId xmlns:a16="http://schemas.microsoft.com/office/drawing/2014/main" id="{F443002C-A975-48D8-873C-08112912D687}"/>
              </a:ext>
            </a:extLst>
          </p:cNvPr>
          <p:cNvSpPr>
            <a:spLocks noGrp="1"/>
          </p:cNvSpPr>
          <p:nvPr/>
        </p:nvSpPr>
        <p:spPr>
          <a:xfrm>
            <a:off x="8858250" y="1771650"/>
            <a:ext cx="1619250" cy="952500"/>
          </a:xfrm>
          <a:prstGeom prst="roundRect">
            <a:avLst>
              <a:gd name="adj" fmla="val 18000"/>
            </a:avLst>
          </a:prstGeom>
          <a:solidFill>
            <a:srgbClr val="F2EEE6"/>
          </a:solidFill>
          <a:ln w="9525">
            <a:solidFill>
              <a:srgbClr val="D4CD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legacy-head-3">
            <a:extLst>
              <a:ext uri="{FF2B5EF4-FFF2-40B4-BE49-F238E27FC236}">
                <a16:creationId xmlns:a16="http://schemas.microsoft.com/office/drawing/2014/main" id="{A2668314-D077-4172-B4A0-E31243E1CFC9}"/>
              </a:ext>
            </a:extLst>
          </p:cNvPr>
          <p:cNvSpPr>
            <a:spLocks noGrp="1"/>
          </p:cNvSpPr>
          <p:nvPr/>
        </p:nvSpPr>
        <p:spPr>
          <a:xfrm>
            <a:off x="9010650" y="1952625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6F746F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6F746F"/>
                </a:solidFill>
                <a:latin typeface="Pretendard"/>
                <a:ea typeface="Pretendard"/>
                <a:cs typeface="Pretendard"/>
              </a:rPr>
              <a:t>결제</a:t>
            </a:r>
          </a:p>
        </p:txBody>
      </p:sp>
      <p:sp>
        <p:nvSpPr>
          <p:cNvPr id="20" name="legacy-body-3">
            <a:extLst>
              <a:ext uri="{FF2B5EF4-FFF2-40B4-BE49-F238E27FC236}">
                <a16:creationId xmlns:a16="http://schemas.microsoft.com/office/drawing/2014/main" id="{BB7F60E7-0C31-4B13-8F1C-FFEED515DE6E}"/>
              </a:ext>
            </a:extLst>
          </p:cNvPr>
          <p:cNvSpPr>
            <a:spLocks noGrp="1"/>
          </p:cNvSpPr>
          <p:nvPr/>
        </p:nvSpPr>
        <p:spPr>
          <a:xfrm>
            <a:off x="9010650" y="2324100"/>
            <a:ext cx="1314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858B85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858B85"/>
                </a:solidFill>
                <a:latin typeface="Pretendard"/>
                <a:ea typeface="Pretendard"/>
                <a:cs typeface="Pretendard"/>
              </a:rPr>
              <a:t>주문 마무리</a:t>
            </a:r>
          </a:p>
        </p:txBody>
      </p:sp>
      <p:sp>
        <p:nvSpPr>
          <p:cNvPr id="21" name="pass-label">
            <a:extLst>
              <a:ext uri="{FF2B5EF4-FFF2-40B4-BE49-F238E27FC236}">
                <a16:creationId xmlns:a16="http://schemas.microsoft.com/office/drawing/2014/main" id="{6DB28740-75BC-4F82-BEF2-0D3FA6CF94FC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07B5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07B57"/>
                </a:solidFill>
                <a:latin typeface="Pretendard"/>
                <a:ea typeface="Pretendard"/>
                <a:cs typeface="Pretendard"/>
              </a:rPr>
              <a:t>한끼패스</a:t>
            </a:r>
          </a:p>
        </p:txBody>
      </p:sp>
      <p:sp>
        <p:nvSpPr>
          <p:cNvPr id="22" name="pass-box-0">
            <a:extLst>
              <a:ext uri="{FF2B5EF4-FFF2-40B4-BE49-F238E27FC236}">
                <a16:creationId xmlns:a16="http://schemas.microsoft.com/office/drawing/2014/main" id="{216D7C64-2049-4BDA-AF18-32C439CED325}"/>
              </a:ext>
            </a:extLst>
          </p:cNvPr>
          <p:cNvSpPr>
            <a:spLocks noGrp="1"/>
          </p:cNvSpPr>
          <p:nvPr/>
        </p:nvSpPr>
        <p:spPr>
          <a:xfrm>
            <a:off x="3714750" y="3790950"/>
            <a:ext cx="2047875" cy="1200150"/>
          </a:xfrm>
          <a:prstGeom prst="roundRect">
            <a:avLst>
              <a:gd name="adj" fmla="val 17460"/>
            </a:avLst>
          </a:prstGeom>
          <a:solidFill>
            <a:srgbClr val="FBE4D9"/>
          </a:solidFill>
          <a:ln w="19050">
            <a:solidFill>
              <a:srgbClr val="F07B5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3" name="pass-head-0">
            <a:extLst>
              <a:ext uri="{FF2B5EF4-FFF2-40B4-BE49-F238E27FC236}">
                <a16:creationId xmlns:a16="http://schemas.microsoft.com/office/drawing/2014/main" id="{96C0FEF6-B477-4049-87A2-2215B5AE070A}"/>
              </a:ext>
            </a:extLst>
          </p:cNvPr>
          <p:cNvSpPr>
            <a:spLocks noGrp="1"/>
          </p:cNvSpPr>
          <p:nvPr/>
        </p:nvSpPr>
        <p:spPr>
          <a:xfrm>
            <a:off x="3886200" y="4038600"/>
            <a:ext cx="1704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QR 스캔</a:t>
            </a:r>
          </a:p>
        </p:txBody>
      </p:sp>
      <p:sp>
        <p:nvSpPr>
          <p:cNvPr id="24" name="pass-body-0">
            <a:extLst>
              <a:ext uri="{FF2B5EF4-FFF2-40B4-BE49-F238E27FC236}">
                <a16:creationId xmlns:a16="http://schemas.microsoft.com/office/drawing/2014/main" id="{D956FB37-0BD5-4649-A2E2-353E7C0DA17C}"/>
              </a:ext>
            </a:extLst>
          </p:cNvPr>
          <p:cNvSpPr>
            <a:spLocks noGrp="1"/>
          </p:cNvSpPr>
          <p:nvPr/>
        </p:nvSpPr>
        <p:spPr>
          <a:xfrm>
            <a:off x="3886200" y="4476750"/>
            <a:ext cx="17049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준비한 조합 호출</a:t>
            </a:r>
          </a:p>
        </p:txBody>
      </p:sp>
      <p:sp>
        <p:nvSpPr>
          <p:cNvPr id="25" name="pass-box-1">
            <a:extLst>
              <a:ext uri="{FF2B5EF4-FFF2-40B4-BE49-F238E27FC236}">
                <a16:creationId xmlns:a16="http://schemas.microsoft.com/office/drawing/2014/main" id="{10C0B71C-05EB-4503-BC3B-6365D4C5CF0D}"/>
              </a:ext>
            </a:extLst>
          </p:cNvPr>
          <p:cNvSpPr>
            <a:spLocks noGrp="1"/>
          </p:cNvSpPr>
          <p:nvPr/>
        </p:nvSpPr>
        <p:spPr>
          <a:xfrm>
            <a:off x="6143625" y="3790950"/>
            <a:ext cx="2047875" cy="1200150"/>
          </a:xfrm>
          <a:prstGeom prst="roundRect">
            <a:avLst>
              <a:gd name="adj" fmla="val 17460"/>
            </a:avLst>
          </a:prstGeom>
          <a:solidFill>
            <a:srgbClr val="FFFCF6"/>
          </a:solidFill>
          <a:ln w="9525">
            <a:solidFill>
              <a:srgbClr val="B9C9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pass-head-1">
            <a:extLst>
              <a:ext uri="{FF2B5EF4-FFF2-40B4-BE49-F238E27FC236}">
                <a16:creationId xmlns:a16="http://schemas.microsoft.com/office/drawing/2014/main" id="{673BCCDE-1E2D-4D1F-8197-660574C19898}"/>
              </a:ext>
            </a:extLst>
          </p:cNvPr>
          <p:cNvSpPr>
            <a:spLocks noGrp="1"/>
          </p:cNvSpPr>
          <p:nvPr/>
        </p:nvSpPr>
        <p:spPr>
          <a:xfrm>
            <a:off x="6315075" y="4038600"/>
            <a:ext cx="1704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주문 확인</a:t>
            </a:r>
          </a:p>
        </p:txBody>
      </p:sp>
      <p:sp>
        <p:nvSpPr>
          <p:cNvPr id="27" name="pass-body-1">
            <a:extLst>
              <a:ext uri="{FF2B5EF4-FFF2-40B4-BE49-F238E27FC236}">
                <a16:creationId xmlns:a16="http://schemas.microsoft.com/office/drawing/2014/main" id="{1D70003D-1AC1-4A57-B0AC-C040D5B270EA}"/>
              </a:ext>
            </a:extLst>
          </p:cNvPr>
          <p:cNvSpPr>
            <a:spLocks noGrp="1"/>
          </p:cNvSpPr>
          <p:nvPr/>
        </p:nvSpPr>
        <p:spPr>
          <a:xfrm>
            <a:off x="6315075" y="4476750"/>
            <a:ext cx="17049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메뉴 ID 확인</a:t>
            </a:r>
          </a:p>
        </p:txBody>
      </p:sp>
      <p:sp>
        <p:nvSpPr>
          <p:cNvPr id="28" name="pass-box-2">
            <a:extLst>
              <a:ext uri="{FF2B5EF4-FFF2-40B4-BE49-F238E27FC236}">
                <a16:creationId xmlns:a16="http://schemas.microsoft.com/office/drawing/2014/main" id="{8EF31725-462B-4FCF-877D-CA362737E4F0}"/>
              </a:ext>
            </a:extLst>
          </p:cNvPr>
          <p:cNvSpPr>
            <a:spLocks noGrp="1"/>
          </p:cNvSpPr>
          <p:nvPr/>
        </p:nvSpPr>
        <p:spPr>
          <a:xfrm>
            <a:off x="8572500" y="3790950"/>
            <a:ext cx="2047875" cy="1200150"/>
          </a:xfrm>
          <a:prstGeom prst="roundRect">
            <a:avLst>
              <a:gd name="adj" fmla="val 17460"/>
            </a:avLst>
          </a:prstGeom>
          <a:solidFill>
            <a:srgbClr val="FFFCF6"/>
          </a:solidFill>
          <a:ln w="9525">
            <a:solidFill>
              <a:srgbClr val="B9C9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pass-head-2">
            <a:extLst>
              <a:ext uri="{FF2B5EF4-FFF2-40B4-BE49-F238E27FC236}">
                <a16:creationId xmlns:a16="http://schemas.microsoft.com/office/drawing/2014/main" id="{E90A286A-A1BE-4486-A2E4-E80EF58D8C79}"/>
              </a:ext>
            </a:extLst>
          </p:cNvPr>
          <p:cNvSpPr>
            <a:spLocks noGrp="1"/>
          </p:cNvSpPr>
          <p:nvPr/>
        </p:nvSpPr>
        <p:spPr>
          <a:xfrm>
            <a:off x="8743950" y="4038600"/>
            <a:ext cx="1704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결제</a:t>
            </a:r>
          </a:p>
        </p:txBody>
      </p:sp>
      <p:sp>
        <p:nvSpPr>
          <p:cNvPr id="30" name="pass-body-2">
            <a:extLst>
              <a:ext uri="{FF2B5EF4-FFF2-40B4-BE49-F238E27FC236}">
                <a16:creationId xmlns:a16="http://schemas.microsoft.com/office/drawing/2014/main" id="{44B8AD9F-3000-4B00-A3CE-63F1B694B5EC}"/>
              </a:ext>
            </a:extLst>
          </p:cNvPr>
          <p:cNvSpPr>
            <a:spLocks noGrp="1"/>
          </p:cNvSpPr>
          <p:nvPr/>
        </p:nvSpPr>
        <p:spPr>
          <a:xfrm>
            <a:off x="8743950" y="4476750"/>
            <a:ext cx="17049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주문 마무리</a:t>
            </a:r>
          </a:p>
        </p:txBody>
      </p:sp>
      <p:sp>
        <p:nvSpPr>
          <p:cNvPr id="31" name="principle-close">
            <a:extLst>
              <a:ext uri="{FF2B5EF4-FFF2-40B4-BE49-F238E27FC236}">
                <a16:creationId xmlns:a16="http://schemas.microsoft.com/office/drawing/2014/main" id="{954F1B49-4489-4EE7-9534-05F85919D140}"/>
              </a:ext>
            </a:extLst>
          </p:cNvPr>
          <p:cNvSpPr>
            <a:spLocks noGrp="1"/>
          </p:cNvSpPr>
          <p:nvPr/>
        </p:nvSpPr>
        <p:spPr>
          <a:xfrm>
            <a:off x="3000375" y="5448300"/>
            <a:ext cx="733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354"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한 사람의 QR 하나가 여러 브랜드의 서로 다른 주문 프로필을 연결합니다.</a:t>
            </a:r>
          </a:p>
        </p:txBody>
      </p:sp>
      <p:pic>
        <p:nvPicPr>
          <p:cNvPr id="68" name="그림 6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6305550"/>
            <a:ext cx="266700" cy="266700"/>
          </a:xfrm>
          <a:prstGeom prst="rect">
            <a:avLst/>
          </a:prstGeom>
        </p:spPr>
      </p:pic>
      <p:sp>
        <p:nvSpPr>
          <p:cNvPr id="33" name="footer-brand-3">
            <a:extLst>
              <a:ext uri="{FF2B5EF4-FFF2-40B4-BE49-F238E27FC236}">
                <a16:creationId xmlns:a16="http://schemas.microsoft.com/office/drawing/2014/main" id="{2811968D-6BFF-4C52-B79A-E400682654AE}"/>
              </a:ext>
            </a:extLst>
          </p:cNvPr>
          <p:cNvSpPr>
            <a:spLocks noGrp="1"/>
          </p:cNvSpPr>
          <p:nvPr/>
        </p:nvSpPr>
        <p:spPr>
          <a:xfrm>
            <a:off x="1028700" y="63436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한끼패스</a:t>
            </a:r>
          </a:p>
        </p:txBody>
      </p:sp>
      <p:sp>
        <p:nvSpPr>
          <p:cNvPr id="34" name="footer-page-3">
            <a:extLst>
              <a:ext uri="{FF2B5EF4-FFF2-40B4-BE49-F238E27FC236}">
                <a16:creationId xmlns:a16="http://schemas.microsoft.com/office/drawing/2014/main" id="{552A709E-041D-4AF9-BC8F-3EB9BD5E2C5B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35619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지금 검증하는 것과 앞으로 연결할 것을 구분합니다-eyebrow">
            <a:extLst>
              <a:ext uri="{FF2B5EF4-FFF2-40B4-BE49-F238E27FC236}">
                <a16:creationId xmlns:a16="http://schemas.microsoft.com/office/drawing/2014/main" id="{760E362B-AEE3-4B2F-A89F-D254FCE77747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07B57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F07B57"/>
                </a:solidFill>
                <a:latin typeface="Pretendard"/>
                <a:ea typeface="Pretendard"/>
                <a:cs typeface="Pretendard"/>
              </a:rPr>
              <a:t>Viability</a:t>
            </a:r>
          </a:p>
        </p:txBody>
      </p:sp>
      <p:sp>
        <p:nvSpPr>
          <p:cNvPr id="2" name="지금 검증하는 것과 앞으로 연결할 것을 구분합니다-title">
            <a:extLst>
              <a:ext uri="{FF2B5EF4-FFF2-40B4-BE49-F238E27FC236}">
                <a16:creationId xmlns:a16="http://schemas.microsoft.com/office/drawing/2014/main" id="{76295629-BEA2-42FD-B341-6A43FE60FA20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매장당 월 34.8만원의 가치를 만듭니다</a:t>
            </a:r>
          </a:p>
        </p:txBody>
      </p:sp>
      <p:pic>
        <p:nvPicPr>
          <p:cNvPr id="49" name="그림 6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6305550"/>
            <a:ext cx="266700" cy="266700"/>
          </a:xfrm>
          <a:prstGeom prst="rect">
            <a:avLst/>
          </a:prstGeom>
        </p:spPr>
      </p:pic>
      <p:sp>
        <p:nvSpPr>
          <p:cNvPr id="35" name="footer-brand-6">
            <a:extLst>
              <a:ext uri="{FF2B5EF4-FFF2-40B4-BE49-F238E27FC236}">
                <a16:creationId xmlns:a16="http://schemas.microsoft.com/office/drawing/2014/main" id="{AFB76AF4-28CE-43FD-A688-8B614F07380A}"/>
              </a:ext>
            </a:extLst>
          </p:cNvPr>
          <p:cNvSpPr>
            <a:spLocks noGrp="1"/>
          </p:cNvSpPr>
          <p:nvPr/>
        </p:nvSpPr>
        <p:spPr>
          <a:xfrm>
            <a:off x="1028700" y="63436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한끼패스</a:t>
            </a:r>
          </a:p>
        </p:txBody>
      </p:sp>
      <p:sp>
        <p:nvSpPr>
          <p:cNvPr id="36" name="footer-page-6">
            <a:extLst>
              <a:ext uri="{FF2B5EF4-FFF2-40B4-BE49-F238E27FC236}">
                <a16:creationId xmlns:a16="http://schemas.microsoft.com/office/drawing/2014/main" id="{0465F05E-4975-498A-981F-CBA7DF4A6CEC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39" name="sum">
            <a:extLst>
              <a:ext uri="{FF2B5EF4-FFF2-40B4-BE49-F238E27FC236}">
                <a16:creationId xmlns:a16="http://schemas.microsoft.com/office/drawing/2014/main" id="{93FB1A1B-E0B1-4675-9176-6DF7602EC937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E625B"/>
                </a:solidFill>
              </a:defRPr>
            </a:pPr>
            <a:r>
              <a:rPr sz="1350">
                <a:solidFill>
                  <a:srgbClr val="4E625B"/>
                </a:solidFill>
              </a:rPr>
              <a:t>브랜드·키오스크·POS 사업자를 위한 B2B 솔루션 · 결제 전 주문 단계를 줄여 매출 기회와 운영 효율을 높입니다.</a:t>
            </a:r>
          </a:p>
        </p:txBody>
      </p:sp>
      <p:sp>
        <p:nvSpPr>
          <p:cNvPr id="40" name="scenario">
            <a:extLst>
              <a:ext uri="{FF2B5EF4-FFF2-40B4-BE49-F238E27FC236}">
                <a16:creationId xmlns:a16="http://schemas.microsoft.com/office/drawing/2014/main" id="{DAB1331B-3AD3-4160-A9C0-7680AA2AA301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>
                <a:solidFill>
                  <a:srgbClr val="85796A"/>
                </a:solidFill>
              </a:defRPr>
            </a:pPr>
            <a:r>
              <a:rPr sz="938">
                <a:solidFill>
                  <a:srgbClr val="85796A"/>
                </a:solidFill>
              </a:rPr>
              <a:t>기준: 월 600건 · 객단가 1만원 · 공헌이익률 35%  |  브랜드 잔존가치 27.8만원 · 한끼패스 공헌이익 5만원</a:t>
            </a:r>
          </a:p>
        </p:txBody>
      </p:sp>
      <p:pic>
        <p:nvPicPr>
          <p:cNvPr id="54" name="그림 53"/>
          <p:cNvPicPr>
            <a:picLocks noChangeAspect="1"/>
          </p:cNvPicPr>
          <p:nvPr/>
        </p:nvPicPr>
        <p:blipFill>
          <a:blip r:embed="rId4"/>
          <a:srcRect t="448" b="448"/>
          <a:stretch>
            <a:fillRect/>
          </a:stretch>
        </p:blipFill>
        <p:spPr>
          <a:xfrm>
            <a:off x="685800" y="1962150"/>
            <a:ext cx="6953250" cy="2228850"/>
          </a:xfrm>
          <a:prstGeom prst="rect">
            <a:avLst/>
          </a:prstGeom>
        </p:spPr>
      </p:pic>
      <p:sp>
        <p:nvSpPr>
          <p:cNvPr id="42" name="vl">
            <a:extLst>
              <a:ext uri="{FF2B5EF4-FFF2-40B4-BE49-F238E27FC236}">
                <a16:creationId xmlns:a16="http://schemas.microsoft.com/office/drawing/2014/main" id="{D0561565-4443-4C93-A361-04C1C6C97CAA}"/>
              </a:ext>
            </a:extLst>
          </p:cNvPr>
          <p:cNvSpPr>
            <a:spLocks noGrp="1"/>
          </p:cNvSpPr>
          <p:nvPr/>
        </p:nvSpPr>
        <p:spPr>
          <a:xfrm>
            <a:off x="8210550" y="2152650"/>
            <a:ext cx="2990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23F32"/>
                </a:solidFill>
              </a:defRPr>
            </a:pPr>
            <a:r>
              <a:rPr sz="1350" b="1">
                <a:solidFill>
                  <a:srgbClr val="123F32"/>
                </a:solidFill>
              </a:rPr>
              <a:t>브랜드가 얻는 월간 가치</a:t>
            </a:r>
          </a:p>
        </p:txBody>
      </p:sp>
      <p:sp>
        <p:nvSpPr>
          <p:cNvPr id="43" name="vf">
            <a:extLst>
              <a:ext uri="{FF2B5EF4-FFF2-40B4-BE49-F238E27FC236}">
                <a16:creationId xmlns:a16="http://schemas.microsoft.com/office/drawing/2014/main" id="{F5F9E7B9-3D3C-4DD9-B841-B88ADD6261DB}"/>
              </a:ext>
            </a:extLst>
          </p:cNvPr>
          <p:cNvSpPr>
            <a:spLocks noGrp="1"/>
          </p:cNvSpPr>
          <p:nvPr/>
        </p:nvSpPr>
        <p:spPr>
          <a:xfrm>
            <a:off x="8210550" y="2514600"/>
            <a:ext cx="29908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4E625B"/>
                </a:solidFill>
              </a:defRPr>
            </a:pPr>
            <a:r>
              <a:rPr sz="1275">
                <a:solidFill>
                  <a:srgbClr val="4E625B"/>
                </a:solidFill>
              </a:rPr>
              <a:t>추가 주문 이익</a:t>
            </a:r>
          </a:p>
          <a:p>
            <a:pPr algn="ctr">
              <a:defRPr sz="1275">
                <a:solidFill>
                  <a:srgbClr val="4E625B"/>
                </a:solidFill>
              </a:defRPr>
            </a:pPr>
            <a:r>
              <a:rPr sz="1275">
                <a:solidFill>
                  <a:srgbClr val="4E625B"/>
                </a:solidFill>
              </a:rPr>
              <a:t>+ 직원 업무시간 절감</a:t>
            </a:r>
          </a:p>
          <a:p>
            <a:pPr algn="ctr">
              <a:defRPr sz="1275">
                <a:solidFill>
                  <a:srgbClr val="4E625B"/>
                </a:solidFill>
              </a:defRPr>
            </a:pPr>
            <a:r>
              <a:rPr sz="1275">
                <a:solidFill>
                  <a:srgbClr val="4E625B"/>
                </a:solidFill>
              </a:rPr>
              <a:t>+ 추가 처리 주문 이익</a:t>
            </a:r>
          </a:p>
        </p:txBody>
      </p:sp>
      <p:sp>
        <p:nvSpPr>
          <p:cNvPr id="44" name="vt">
            <a:extLst>
              <a:ext uri="{FF2B5EF4-FFF2-40B4-BE49-F238E27FC236}">
                <a16:creationId xmlns:a16="http://schemas.microsoft.com/office/drawing/2014/main" id="{6CFD08BF-6CA2-4F74-A7D6-2F6E60E078AA}"/>
              </a:ext>
            </a:extLst>
          </p:cNvPr>
          <p:cNvSpPr>
            <a:spLocks noGrp="1"/>
          </p:cNvSpPr>
          <p:nvPr/>
        </p:nvSpPr>
        <p:spPr>
          <a:xfrm>
            <a:off x="8210550" y="3295650"/>
            <a:ext cx="2990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07B57"/>
                </a:solidFill>
              </a:defRPr>
            </a:pPr>
            <a:r>
              <a:rPr sz="2250" b="1">
                <a:solidFill>
                  <a:srgbClr val="F07B57"/>
                </a:solidFill>
              </a:rPr>
              <a:t>347,753원</a:t>
            </a:r>
          </a:p>
        </p:txBody>
      </p:sp>
      <p:sp>
        <p:nvSpPr>
          <p:cNvPr id="45" name="vc">
            <a:extLst>
              <a:ext uri="{FF2B5EF4-FFF2-40B4-BE49-F238E27FC236}">
                <a16:creationId xmlns:a16="http://schemas.microsoft.com/office/drawing/2014/main" id="{31B3E09B-2A83-41E0-9039-DC64F46BAD60}"/>
              </a:ext>
            </a:extLst>
          </p:cNvPr>
          <p:cNvSpPr>
            <a:spLocks noGrp="1"/>
          </p:cNvSpPr>
          <p:nvPr/>
        </p:nvSpPr>
        <p:spPr>
          <a:xfrm>
            <a:off x="8210550" y="3733800"/>
            <a:ext cx="2990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7B5C25"/>
                </a:solidFill>
              </a:defRPr>
            </a:pPr>
            <a:r>
              <a:rPr sz="1200" b="1">
                <a:solidFill>
                  <a:srgbClr val="7B5C25"/>
                </a:solidFill>
              </a:rPr>
              <a:t>약 34.8만원 / 매장 / 월</a:t>
            </a:r>
          </a:p>
        </p:txBody>
      </p:sp>
      <p:pic>
        <p:nvPicPr>
          <p:cNvPr id="59" name="그림 58"/>
          <p:cNvPicPr>
            <a:picLocks noChangeAspect="1"/>
          </p:cNvPicPr>
          <p:nvPr/>
        </p:nvPicPr>
        <p:blipFill>
          <a:blip r:embed="rId5"/>
          <a:srcRect l="298" r="298"/>
          <a:stretch>
            <a:fillRect/>
          </a:stretch>
        </p:blipFill>
        <p:spPr>
          <a:xfrm>
            <a:off x="1285875" y="4457700"/>
            <a:ext cx="962025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14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QR에는 선택만 담고, 진실은 시스템이 다시 확인합니다-eyebrow">
            <a:extLst>
              <a:ext uri="{FF2B5EF4-FFF2-40B4-BE49-F238E27FC236}">
                <a16:creationId xmlns:a16="http://schemas.microsoft.com/office/drawing/2014/main" id="{7C5018E7-81E6-4C83-B235-EFA7FFF8D5A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07B57"/>
                </a:solidFill>
                <a:latin typeface="Pretendard"/>
                <a:ea typeface="Pretendard"/>
                <a:cs typeface="Pretendard"/>
              </a:defRPr>
            </a:pPr>
            <a:r>
              <a:rPr sz="2400" b="1" dirty="0">
                <a:solidFill>
                  <a:srgbClr val="F07B57"/>
                </a:solidFill>
                <a:latin typeface="Pretendard"/>
                <a:ea typeface="Pretendard"/>
                <a:cs typeface="Pretendard"/>
              </a:rPr>
              <a:t>Scalability</a:t>
            </a:r>
          </a:p>
        </p:txBody>
      </p:sp>
      <p:sp>
        <p:nvSpPr>
          <p:cNvPr id="2" name="QR에는 선택만 담고, 진실은 시스템이 다시 확인합니다-title">
            <a:extLst>
              <a:ext uri="{FF2B5EF4-FFF2-40B4-BE49-F238E27FC236}">
                <a16:creationId xmlns:a16="http://schemas.microsoft.com/office/drawing/2014/main" id="{23582B8E-E34A-4D87-8C5F-D33345C5B99B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공통 주문 API와 브랜드 어댑터로 확장합니다</a:t>
            </a:r>
          </a:p>
        </p:txBody>
      </p:sp>
      <p:sp>
        <p:nvSpPr>
          <p:cNvPr id="3" name="architecture-arrow-0">
            <a:extLst>
              <a:ext uri="{FF2B5EF4-FFF2-40B4-BE49-F238E27FC236}">
                <a16:creationId xmlns:a16="http://schemas.microsoft.com/office/drawing/2014/main" id="{263E0BDB-235B-45D7-98C2-223A8E0A6F48}"/>
              </a:ext>
            </a:extLst>
          </p:cNvPr>
          <p:cNvSpPr>
            <a:spLocks noGrp="1"/>
          </p:cNvSpPr>
          <p:nvPr/>
        </p:nvSpPr>
        <p:spPr>
          <a:xfrm>
            <a:off x="2400300" y="3086100"/>
            <a:ext cx="533400" cy="228600"/>
          </a:xfrm>
          <a:prstGeom prst="rightArrow">
            <a:avLst/>
          </a:prstGeom>
          <a:solidFill>
            <a:srgbClr val="F07B57"/>
          </a:solidFill>
          <a:ln w="0">
            <a:solidFill>
              <a:srgbClr val="F07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architecture-arrow-1">
            <a:extLst>
              <a:ext uri="{FF2B5EF4-FFF2-40B4-BE49-F238E27FC236}">
                <a16:creationId xmlns:a16="http://schemas.microsoft.com/office/drawing/2014/main" id="{B51CC352-D53F-41BD-B45D-45BA91A79475}"/>
              </a:ext>
            </a:extLst>
          </p:cNvPr>
          <p:cNvSpPr>
            <a:spLocks noGrp="1"/>
          </p:cNvSpPr>
          <p:nvPr/>
        </p:nvSpPr>
        <p:spPr>
          <a:xfrm>
            <a:off x="4648200" y="3086100"/>
            <a:ext cx="533400" cy="228600"/>
          </a:xfrm>
          <a:prstGeom prst="rightArrow">
            <a:avLst/>
          </a:prstGeom>
          <a:solidFill>
            <a:srgbClr val="F07B57"/>
          </a:solidFill>
          <a:ln w="0">
            <a:solidFill>
              <a:srgbClr val="F07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architecture-arrow-2">
            <a:extLst>
              <a:ext uri="{FF2B5EF4-FFF2-40B4-BE49-F238E27FC236}">
                <a16:creationId xmlns:a16="http://schemas.microsoft.com/office/drawing/2014/main" id="{7D81B3A8-2228-43A2-88B6-C7CC43D33591}"/>
              </a:ext>
            </a:extLst>
          </p:cNvPr>
          <p:cNvSpPr>
            <a:spLocks noGrp="1"/>
          </p:cNvSpPr>
          <p:nvPr/>
        </p:nvSpPr>
        <p:spPr>
          <a:xfrm>
            <a:off x="6896100" y="3086100"/>
            <a:ext cx="533400" cy="228600"/>
          </a:xfrm>
          <a:prstGeom prst="rightArrow">
            <a:avLst/>
          </a:prstGeom>
          <a:solidFill>
            <a:srgbClr val="F07B57"/>
          </a:solidFill>
          <a:ln w="0">
            <a:solidFill>
              <a:srgbClr val="F07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architecture-arrow-3">
            <a:extLst>
              <a:ext uri="{FF2B5EF4-FFF2-40B4-BE49-F238E27FC236}">
                <a16:creationId xmlns:a16="http://schemas.microsoft.com/office/drawing/2014/main" id="{47C109AD-9404-49D5-A7CF-5630DEAA606F}"/>
              </a:ext>
            </a:extLst>
          </p:cNvPr>
          <p:cNvSpPr>
            <a:spLocks noGrp="1"/>
          </p:cNvSpPr>
          <p:nvPr/>
        </p:nvSpPr>
        <p:spPr>
          <a:xfrm>
            <a:off x="9144000" y="3086100"/>
            <a:ext cx="533400" cy="228600"/>
          </a:xfrm>
          <a:prstGeom prst="rightArrow">
            <a:avLst/>
          </a:prstGeom>
          <a:solidFill>
            <a:srgbClr val="B8BDB7"/>
          </a:solidFill>
          <a:ln w="0">
            <a:solidFill>
              <a:srgbClr val="B8BD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architecture-node-0">
            <a:extLst>
              <a:ext uri="{FF2B5EF4-FFF2-40B4-BE49-F238E27FC236}">
                <a16:creationId xmlns:a16="http://schemas.microsoft.com/office/drawing/2014/main" id="{F8EFCA7D-0396-4BC3-ACB4-2242C0D309E8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1714500" cy="1809750"/>
          </a:xfrm>
          <a:prstGeom prst="roundRect">
            <a:avLst>
              <a:gd name="adj" fmla="val 13333"/>
            </a:avLst>
          </a:prstGeom>
          <a:solidFill>
            <a:srgbClr val="FFFCF6"/>
          </a:solidFill>
          <a:ln w="14288">
            <a:solidFill>
              <a:srgbClr val="D8D0C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8" name="architecture-head-0">
            <a:extLst>
              <a:ext uri="{FF2B5EF4-FFF2-40B4-BE49-F238E27FC236}">
                <a16:creationId xmlns:a16="http://schemas.microsoft.com/office/drawing/2014/main" id="{DEBA3199-ADC4-424A-935E-DE0F5C6F4141}"/>
              </a:ext>
            </a:extLst>
          </p:cNvPr>
          <p:cNvSpPr>
            <a:spLocks noGrp="1"/>
          </p:cNvSpPr>
          <p:nvPr/>
        </p:nvSpPr>
        <p:spPr>
          <a:xfrm>
            <a:off x="857250" y="2495550"/>
            <a:ext cx="13716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공통 주문 규격</a:t>
            </a:r>
          </a:p>
        </p:txBody>
      </p:sp>
      <p:sp>
        <p:nvSpPr>
          <p:cNvPr id="9" name="architecture-code-0">
            <a:extLst>
              <a:ext uri="{FF2B5EF4-FFF2-40B4-BE49-F238E27FC236}">
                <a16:creationId xmlns:a16="http://schemas.microsoft.com/office/drawing/2014/main" id="{B9F2FC9F-2F70-446A-80FF-58567EC79633}"/>
              </a:ext>
            </a:extLst>
          </p:cNvPr>
          <p:cNvSpPr>
            <a:spLocks noGrp="1"/>
          </p:cNvSpPr>
          <p:nvPr/>
        </p:nvSpPr>
        <p:spPr>
          <a:xfrm>
            <a:off x="819150" y="2990850"/>
            <a:ext cx="1447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F07B5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07B57"/>
                </a:solidFill>
                <a:latin typeface="Pretendard"/>
                <a:ea typeface="Pretendard"/>
                <a:cs typeface="Pretendard"/>
              </a:rPr>
              <a:t>/</a:t>
            </a:r>
          </a:p>
        </p:txBody>
      </p:sp>
      <p:sp>
        <p:nvSpPr>
          <p:cNvPr id="10" name="architecture-body-0">
            <a:extLst>
              <a:ext uri="{FF2B5EF4-FFF2-40B4-BE49-F238E27FC236}">
                <a16:creationId xmlns:a16="http://schemas.microsoft.com/office/drawing/2014/main" id="{568F9BDA-0470-4C02-BEA8-323AEAFE00C3}"/>
              </a:ext>
            </a:extLst>
          </p:cNvPr>
          <p:cNvSpPr>
            <a:spLocks noGrp="1"/>
          </p:cNvSpPr>
          <p:nvPr/>
        </p:nvSpPr>
        <p:spPr>
          <a:xfrm>
            <a:off x="857250" y="3543300"/>
            <a:ext cx="137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매장·메뉴 선택</a:t>
            </a:r>
          </a:p>
        </p:txBody>
      </p:sp>
      <p:sp>
        <p:nvSpPr>
          <p:cNvPr id="11" name="architecture-node-1">
            <a:extLst>
              <a:ext uri="{FF2B5EF4-FFF2-40B4-BE49-F238E27FC236}">
                <a16:creationId xmlns:a16="http://schemas.microsoft.com/office/drawing/2014/main" id="{ADA78E19-4DF3-4DFE-ADEA-5BF04B46211D}"/>
              </a:ext>
            </a:extLst>
          </p:cNvPr>
          <p:cNvSpPr>
            <a:spLocks noGrp="1"/>
          </p:cNvSpPr>
          <p:nvPr/>
        </p:nvSpPr>
        <p:spPr>
          <a:xfrm>
            <a:off x="2933700" y="2266950"/>
            <a:ext cx="1714500" cy="1809750"/>
          </a:xfrm>
          <a:prstGeom prst="roundRect">
            <a:avLst>
              <a:gd name="adj" fmla="val 13333"/>
            </a:avLst>
          </a:prstGeom>
          <a:solidFill>
            <a:srgbClr val="FFFCF6"/>
          </a:solidFill>
          <a:ln w="14288">
            <a:solidFill>
              <a:srgbClr val="D8D0C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2" name="architecture-head-1">
            <a:extLst>
              <a:ext uri="{FF2B5EF4-FFF2-40B4-BE49-F238E27FC236}">
                <a16:creationId xmlns:a16="http://schemas.microsoft.com/office/drawing/2014/main" id="{0FE435B6-37D0-4E20-ADEC-70052FEAF49D}"/>
              </a:ext>
            </a:extLst>
          </p:cNvPr>
          <p:cNvSpPr>
            <a:spLocks noGrp="1"/>
          </p:cNvSpPr>
          <p:nvPr/>
        </p:nvSpPr>
        <p:spPr>
          <a:xfrm>
            <a:off x="3105150" y="2495550"/>
            <a:ext cx="13716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브랜드 어댑터</a:t>
            </a:r>
          </a:p>
        </p:txBody>
      </p:sp>
      <p:sp>
        <p:nvSpPr>
          <p:cNvPr id="13" name="architecture-code-1">
            <a:extLst>
              <a:ext uri="{FF2B5EF4-FFF2-40B4-BE49-F238E27FC236}">
                <a16:creationId xmlns:a16="http://schemas.microsoft.com/office/drawing/2014/main" id="{299BADC7-727C-4790-9CC1-DF64E90C9143}"/>
              </a:ext>
            </a:extLst>
          </p:cNvPr>
          <p:cNvSpPr>
            <a:spLocks noGrp="1"/>
          </p:cNvSpPr>
          <p:nvPr/>
        </p:nvSpPr>
        <p:spPr>
          <a:xfrm>
            <a:off x="3067050" y="2990850"/>
            <a:ext cx="1447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F07B5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07B57"/>
                </a:solidFill>
                <a:latin typeface="Pretendard"/>
                <a:ea typeface="Pretendard"/>
                <a:cs typeface="Pretendard"/>
              </a:rPr>
              <a:t>localStorage</a:t>
            </a:r>
          </a:p>
        </p:txBody>
      </p:sp>
      <p:sp>
        <p:nvSpPr>
          <p:cNvPr id="14" name="architecture-body-1">
            <a:extLst>
              <a:ext uri="{FF2B5EF4-FFF2-40B4-BE49-F238E27FC236}">
                <a16:creationId xmlns:a16="http://schemas.microsoft.com/office/drawing/2014/main" id="{277730DA-122B-41BE-B843-4A231EF91BE5}"/>
              </a:ext>
            </a:extLst>
          </p:cNvPr>
          <p:cNvSpPr>
            <a:spLocks noGrp="1"/>
          </p:cNvSpPr>
          <p:nvPr/>
        </p:nvSpPr>
        <p:spPr>
          <a:xfrm>
            <a:off x="3105150" y="3543300"/>
            <a:ext cx="137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onemeal-menu-v1</a:t>
            </a:r>
          </a:p>
        </p:txBody>
      </p:sp>
      <p:sp>
        <p:nvSpPr>
          <p:cNvPr id="15" name="architecture-node-2">
            <a:extLst>
              <a:ext uri="{FF2B5EF4-FFF2-40B4-BE49-F238E27FC236}">
                <a16:creationId xmlns:a16="http://schemas.microsoft.com/office/drawing/2014/main" id="{BBA9E729-B652-4D31-8D79-56D9144875E3}"/>
              </a:ext>
            </a:extLst>
          </p:cNvPr>
          <p:cNvSpPr>
            <a:spLocks noGrp="1"/>
          </p:cNvSpPr>
          <p:nvPr/>
        </p:nvSpPr>
        <p:spPr>
          <a:xfrm>
            <a:off x="5181600" y="2266950"/>
            <a:ext cx="1714500" cy="1809750"/>
          </a:xfrm>
          <a:prstGeom prst="roundRect">
            <a:avLst>
              <a:gd name="adj" fmla="val 13333"/>
            </a:avLst>
          </a:prstGeom>
          <a:solidFill>
            <a:srgbClr val="123F32"/>
          </a:solidFill>
          <a:ln w="19050">
            <a:solidFill>
              <a:srgbClr val="123F3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6" name="architecture-head-2">
            <a:extLst>
              <a:ext uri="{FF2B5EF4-FFF2-40B4-BE49-F238E27FC236}">
                <a16:creationId xmlns:a16="http://schemas.microsoft.com/office/drawing/2014/main" id="{653E66B3-16BA-486F-BDC8-2D2F84A6FC87}"/>
              </a:ext>
            </a:extLst>
          </p:cNvPr>
          <p:cNvSpPr>
            <a:spLocks noGrp="1"/>
          </p:cNvSpPr>
          <p:nvPr/>
        </p:nvSpPr>
        <p:spPr>
          <a:xfrm>
            <a:off x="5353050" y="2495550"/>
            <a:ext cx="13716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FFFCF6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FFCF6"/>
                </a:solidFill>
                <a:latin typeface="Pretendard"/>
                <a:ea typeface="Pretendard"/>
                <a:cs typeface="Pretendard"/>
              </a:rPr>
              <a:t>POS·키오스크</a:t>
            </a:r>
          </a:p>
        </p:txBody>
      </p:sp>
      <p:sp>
        <p:nvSpPr>
          <p:cNvPr id="17" name="architecture-code-2">
            <a:extLst>
              <a:ext uri="{FF2B5EF4-FFF2-40B4-BE49-F238E27FC236}">
                <a16:creationId xmlns:a16="http://schemas.microsoft.com/office/drawing/2014/main" id="{4D787436-FE5C-45A1-BCCF-288CE23082FA}"/>
              </a:ext>
            </a:extLst>
          </p:cNvPr>
          <p:cNvSpPr>
            <a:spLocks noGrp="1"/>
          </p:cNvSpPr>
          <p:nvPr/>
        </p:nvSpPr>
        <p:spPr>
          <a:xfrm>
            <a:off x="5314950" y="2990850"/>
            <a:ext cx="1447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F07B57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07B57"/>
                </a:solidFill>
                <a:latin typeface="Pretendard"/>
                <a:ea typeface="Pretendard"/>
                <a:cs typeface="Pretendard"/>
              </a:rPr>
              <a:t>store={menuId,…}</a:t>
            </a:r>
          </a:p>
        </p:txBody>
      </p:sp>
      <p:sp>
        <p:nvSpPr>
          <p:cNvPr id="18" name="architecture-body-2">
            <a:extLst>
              <a:ext uri="{FF2B5EF4-FFF2-40B4-BE49-F238E27FC236}">
                <a16:creationId xmlns:a16="http://schemas.microsoft.com/office/drawing/2014/main" id="{9C76EA72-C273-4EEC-BAFD-B15678F130FC}"/>
              </a:ext>
            </a:extLst>
          </p:cNvPr>
          <p:cNvSpPr>
            <a:spLocks noGrp="1"/>
          </p:cNvSpPr>
          <p:nvPr/>
        </p:nvSpPr>
        <p:spPr>
          <a:xfrm>
            <a:off x="5353050" y="3543300"/>
            <a:ext cx="137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E7EFE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E7EFE9"/>
                </a:solidFill>
                <a:latin typeface="Pretendard"/>
                <a:ea typeface="Pretendard"/>
                <a:cs typeface="Pretendard"/>
              </a:rPr>
              <a:t>이름·가격은 제외</a:t>
            </a:r>
          </a:p>
        </p:txBody>
      </p:sp>
      <p:sp>
        <p:nvSpPr>
          <p:cNvPr id="19" name="architecture-node-3">
            <a:extLst>
              <a:ext uri="{FF2B5EF4-FFF2-40B4-BE49-F238E27FC236}">
                <a16:creationId xmlns:a16="http://schemas.microsoft.com/office/drawing/2014/main" id="{96402372-6043-4ABC-B350-A7EA4E412B54}"/>
              </a:ext>
            </a:extLst>
          </p:cNvPr>
          <p:cNvSpPr>
            <a:spLocks noGrp="1"/>
          </p:cNvSpPr>
          <p:nvPr/>
        </p:nvSpPr>
        <p:spPr>
          <a:xfrm>
            <a:off x="7429500" y="2266950"/>
            <a:ext cx="1714500" cy="1809750"/>
          </a:xfrm>
          <a:prstGeom prst="roundRect">
            <a:avLst>
              <a:gd name="adj" fmla="val 13333"/>
            </a:avLst>
          </a:prstGeom>
          <a:solidFill>
            <a:srgbClr val="FFFCF6"/>
          </a:solidFill>
          <a:ln w="14288">
            <a:solidFill>
              <a:srgbClr val="D8D0C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0" name="architecture-head-3">
            <a:extLst>
              <a:ext uri="{FF2B5EF4-FFF2-40B4-BE49-F238E27FC236}">
                <a16:creationId xmlns:a16="http://schemas.microsoft.com/office/drawing/2014/main" id="{7EE82C2E-CBA8-4F13-9445-82CBD5DCB48D}"/>
              </a:ext>
            </a:extLst>
          </p:cNvPr>
          <p:cNvSpPr>
            <a:spLocks noGrp="1"/>
          </p:cNvSpPr>
          <p:nvPr/>
        </p:nvSpPr>
        <p:spPr>
          <a:xfrm>
            <a:off x="7600950" y="2495550"/>
            <a:ext cx="13716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가격·재고 검증</a:t>
            </a:r>
          </a:p>
        </p:txBody>
      </p:sp>
      <p:sp>
        <p:nvSpPr>
          <p:cNvPr id="21" name="architecture-code-3">
            <a:extLst>
              <a:ext uri="{FF2B5EF4-FFF2-40B4-BE49-F238E27FC236}">
                <a16:creationId xmlns:a16="http://schemas.microsoft.com/office/drawing/2014/main" id="{72052349-236F-4CF2-9E3C-B8F20646150D}"/>
              </a:ext>
            </a:extLst>
          </p:cNvPr>
          <p:cNvSpPr>
            <a:spLocks noGrp="1"/>
          </p:cNvSpPr>
          <p:nvPr/>
        </p:nvSpPr>
        <p:spPr>
          <a:xfrm>
            <a:off x="7562850" y="2990850"/>
            <a:ext cx="1447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F07B5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07B57"/>
                </a:solidFill>
                <a:latin typeface="Pretendard"/>
                <a:ea typeface="Pretendard"/>
                <a:cs typeface="Pretendard"/>
              </a:rPr>
              <a:t>/kiosk</a:t>
            </a:r>
          </a:p>
        </p:txBody>
      </p:sp>
      <p:sp>
        <p:nvSpPr>
          <p:cNvPr id="22" name="architecture-body-3">
            <a:extLst>
              <a:ext uri="{FF2B5EF4-FFF2-40B4-BE49-F238E27FC236}">
                <a16:creationId xmlns:a16="http://schemas.microsoft.com/office/drawing/2014/main" id="{9905EE47-7A4C-4CA4-BDA6-86EA552927BD}"/>
              </a:ext>
            </a:extLst>
          </p:cNvPr>
          <p:cNvSpPr>
            <a:spLocks noGrp="1"/>
          </p:cNvSpPr>
          <p:nvPr/>
        </p:nvSpPr>
        <p:spPr>
          <a:xfrm>
            <a:off x="7600950" y="3543300"/>
            <a:ext cx="137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원문 인식·ID 파싱</a:t>
            </a:r>
          </a:p>
        </p:txBody>
      </p:sp>
      <p:sp>
        <p:nvSpPr>
          <p:cNvPr id="23" name="architecture-node-4">
            <a:extLst>
              <a:ext uri="{FF2B5EF4-FFF2-40B4-BE49-F238E27FC236}">
                <a16:creationId xmlns:a16="http://schemas.microsoft.com/office/drawing/2014/main" id="{DD62101D-0246-4014-9A47-616FF9048620}"/>
              </a:ext>
            </a:extLst>
          </p:cNvPr>
          <p:cNvSpPr>
            <a:spLocks noGrp="1"/>
          </p:cNvSpPr>
          <p:nvPr/>
        </p:nvSpPr>
        <p:spPr>
          <a:xfrm>
            <a:off x="9677400" y="2266950"/>
            <a:ext cx="1714500" cy="1809750"/>
          </a:xfrm>
          <a:prstGeom prst="roundRect">
            <a:avLst>
              <a:gd name="adj" fmla="val 13333"/>
            </a:avLst>
          </a:prstGeom>
          <a:solidFill>
            <a:srgbClr val="FFFCF6"/>
          </a:solidFill>
          <a:ln w="14288">
            <a:solidFill>
              <a:srgbClr val="9DA89F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4" name="architecture-head-4">
            <a:extLst>
              <a:ext uri="{FF2B5EF4-FFF2-40B4-BE49-F238E27FC236}">
                <a16:creationId xmlns:a16="http://schemas.microsoft.com/office/drawing/2014/main" id="{767648C2-DAC5-4C3B-8C8A-3D47F7E52FF0}"/>
              </a:ext>
            </a:extLst>
          </p:cNvPr>
          <p:cNvSpPr>
            <a:spLocks noGrp="1"/>
          </p:cNvSpPr>
          <p:nvPr/>
        </p:nvSpPr>
        <p:spPr>
          <a:xfrm>
            <a:off x="9848850" y="2495550"/>
            <a:ext cx="13716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운영 데이터</a:t>
            </a:r>
          </a:p>
        </p:txBody>
      </p:sp>
      <p:sp>
        <p:nvSpPr>
          <p:cNvPr id="25" name="architecture-code-4">
            <a:extLst>
              <a:ext uri="{FF2B5EF4-FFF2-40B4-BE49-F238E27FC236}">
                <a16:creationId xmlns:a16="http://schemas.microsoft.com/office/drawing/2014/main" id="{3866C761-27E9-457A-9DB2-1507A29276C1}"/>
              </a:ext>
            </a:extLst>
          </p:cNvPr>
          <p:cNvSpPr>
            <a:spLocks noGrp="1"/>
          </p:cNvSpPr>
          <p:nvPr/>
        </p:nvSpPr>
        <p:spPr>
          <a:xfrm>
            <a:off x="9810750" y="2990850"/>
            <a:ext cx="1447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F07B5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07B57"/>
                </a:solidFill>
                <a:latin typeface="Pretendard"/>
                <a:ea typeface="Pretendard"/>
                <a:cs typeface="Pretendard"/>
              </a:rPr>
              <a:t>검증 경계</a:t>
            </a:r>
          </a:p>
        </p:txBody>
      </p:sp>
      <p:sp>
        <p:nvSpPr>
          <p:cNvPr id="26" name="architecture-body-4">
            <a:extLst>
              <a:ext uri="{FF2B5EF4-FFF2-40B4-BE49-F238E27FC236}">
                <a16:creationId xmlns:a16="http://schemas.microsoft.com/office/drawing/2014/main" id="{6FC02A87-0F38-4360-91F7-772A077BAABF}"/>
              </a:ext>
            </a:extLst>
          </p:cNvPr>
          <p:cNvSpPr>
            <a:spLocks noGrp="1"/>
          </p:cNvSpPr>
          <p:nvPr/>
        </p:nvSpPr>
        <p:spPr>
          <a:xfrm>
            <a:off x="9848850" y="3543300"/>
            <a:ext cx="137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가격·재고·판매 확인</a:t>
            </a:r>
          </a:p>
        </p:txBody>
      </p:sp>
      <p:sp>
        <p:nvSpPr>
          <p:cNvPr id="27" name="architecture-note">
            <a:extLst>
              <a:ext uri="{FF2B5EF4-FFF2-40B4-BE49-F238E27FC236}">
                <a16:creationId xmlns:a16="http://schemas.microsoft.com/office/drawing/2014/main" id="{DE68DFDD-554B-4B21-8229-E613EB309B39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10820400" cy="1009650"/>
          </a:xfrm>
          <a:prstGeom prst="roundRect">
            <a:avLst>
              <a:gd name="adj" fmla="val 18868"/>
            </a:avLst>
          </a:prstGeom>
          <a:solidFill>
            <a:srgbClr val="E6EEE8"/>
          </a:solidFill>
          <a:ln w="9525">
            <a:solidFill>
              <a:srgbClr val="C4D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architecture-note-strong">
            <a:extLst>
              <a:ext uri="{FF2B5EF4-FFF2-40B4-BE49-F238E27FC236}">
                <a16:creationId xmlns:a16="http://schemas.microsoft.com/office/drawing/2014/main" id="{244AFAB3-654F-41C2-AA22-8ED1E4FAC850}"/>
              </a:ext>
            </a:extLst>
          </p:cNvPr>
          <p:cNvSpPr>
            <a:spLocks noGrp="1"/>
          </p:cNvSpPr>
          <p:nvPr/>
        </p:nvSpPr>
        <p:spPr>
          <a:xfrm>
            <a:off x="952500" y="48958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C5A48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C5A48"/>
                </a:solidFill>
                <a:latin typeface="Pretendard"/>
                <a:ea typeface="Pretendard"/>
                <a:cs typeface="Pretendard"/>
              </a:rPr>
              <a:t>로컬 우선</a:t>
            </a:r>
          </a:p>
        </p:txBody>
      </p:sp>
      <p:sp>
        <p:nvSpPr>
          <p:cNvPr id="29" name="architecture-note-copy">
            <a:extLst>
              <a:ext uri="{FF2B5EF4-FFF2-40B4-BE49-F238E27FC236}">
                <a16:creationId xmlns:a16="http://schemas.microsoft.com/office/drawing/2014/main" id="{09F246DB-06A9-4CBF-8551-5E5AC029A134}"/>
              </a:ext>
            </a:extLst>
          </p:cNvPr>
          <p:cNvSpPr>
            <a:spLocks noGrp="1"/>
          </p:cNvSpPr>
          <p:nvPr/>
        </p:nvSpPr>
        <p:spPr>
          <a:xfrm>
            <a:off x="2400300" y="4838700"/>
            <a:ext cx="8667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브랜드마다 전체 시스템을 다시 만들지 않고, 공통 규격과 어댑터만 연결해 연동 비용을 낮춥니다.</a:t>
            </a:r>
          </a:p>
        </p:txBody>
      </p:sp>
      <p:pic>
        <p:nvPicPr>
          <p:cNvPr id="64" name="그림 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6305550"/>
            <a:ext cx="266700" cy="266700"/>
          </a:xfrm>
          <a:prstGeom prst="rect">
            <a:avLst/>
          </a:prstGeom>
        </p:spPr>
      </p:pic>
      <p:sp>
        <p:nvSpPr>
          <p:cNvPr id="31" name="footer-brand-7">
            <a:extLst>
              <a:ext uri="{FF2B5EF4-FFF2-40B4-BE49-F238E27FC236}">
                <a16:creationId xmlns:a16="http://schemas.microsoft.com/office/drawing/2014/main" id="{422E5FA7-9676-478F-9D66-B308DDD91487}"/>
              </a:ext>
            </a:extLst>
          </p:cNvPr>
          <p:cNvSpPr>
            <a:spLocks noGrp="1"/>
          </p:cNvSpPr>
          <p:nvPr/>
        </p:nvSpPr>
        <p:spPr>
          <a:xfrm>
            <a:off x="1028700" y="63436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한끼패스</a:t>
            </a:r>
          </a:p>
        </p:txBody>
      </p:sp>
      <p:sp>
        <p:nvSpPr>
          <p:cNvPr id="32" name="footer-page-7">
            <a:extLst>
              <a:ext uri="{FF2B5EF4-FFF2-40B4-BE49-F238E27FC236}">
                <a16:creationId xmlns:a16="http://schemas.microsoft.com/office/drawing/2014/main" id="{F62E872B-B4B1-489C-87C0-4406BD269823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35921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같은 QR이 세 사람의 부담을 함께 줄입니다-eyebrow">
            <a:extLst>
              <a:ext uri="{FF2B5EF4-FFF2-40B4-BE49-F238E27FC236}">
                <a16:creationId xmlns:a16="http://schemas.microsoft.com/office/drawing/2014/main" id="{2A2FE77E-512C-4B62-A516-4443107F4AF7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07B5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07B57"/>
                </a:solidFill>
                <a:latin typeface="Pretendard"/>
                <a:ea typeface="Pretendard"/>
                <a:cs typeface="Pretendard"/>
              </a:rPr>
              <a:t>Impact</a:t>
            </a:r>
          </a:p>
        </p:txBody>
      </p:sp>
      <p:sp>
        <p:nvSpPr>
          <p:cNvPr id="2" name="같은 QR이 세 사람의 부담을 함께 줄입니다-title">
            <a:extLst>
              <a:ext uri="{FF2B5EF4-FFF2-40B4-BE49-F238E27FC236}">
                <a16:creationId xmlns:a16="http://schemas.microsoft.com/office/drawing/2014/main" id="{7A61816C-BA7A-4E25-A951-1E58442F54D2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주문 포기를 주문 독립성과 매출 기회로 바꿉니다</a:t>
            </a:r>
          </a:p>
        </p:txBody>
      </p:sp>
      <p:sp>
        <p:nvSpPr>
          <p:cNvPr id="3" name="stake-divider-1">
            <a:extLst>
              <a:ext uri="{FF2B5EF4-FFF2-40B4-BE49-F238E27FC236}">
                <a16:creationId xmlns:a16="http://schemas.microsoft.com/office/drawing/2014/main" id="{ED33D807-7E10-4568-AC3C-9823C7D2BCE9}"/>
              </a:ext>
            </a:extLst>
          </p:cNvPr>
          <p:cNvSpPr>
            <a:spLocks noGrp="1"/>
          </p:cNvSpPr>
          <p:nvPr/>
        </p:nvSpPr>
        <p:spPr>
          <a:xfrm>
            <a:off x="4038600" y="1962150"/>
            <a:ext cx="0" cy="0"/>
          </a:xfrm>
          <a:prstGeom prst="line">
            <a:avLst/>
          </a:prstGeom>
          <a:noFill/>
          <a:ln w="9525">
            <a:solidFill>
              <a:srgbClr val="D8D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take-vertical-1">
            <a:extLst>
              <a:ext uri="{FF2B5EF4-FFF2-40B4-BE49-F238E27FC236}">
                <a16:creationId xmlns:a16="http://schemas.microsoft.com/office/drawing/2014/main" id="{8BF6D3B8-5DD8-4434-B40E-ECBF0AB939FE}"/>
              </a:ext>
            </a:extLst>
          </p:cNvPr>
          <p:cNvSpPr>
            <a:spLocks noGrp="1"/>
          </p:cNvSpPr>
          <p:nvPr/>
        </p:nvSpPr>
        <p:spPr>
          <a:xfrm>
            <a:off x="4038600" y="1962150"/>
            <a:ext cx="0" cy="3333750"/>
          </a:xfrm>
          <a:prstGeom prst="line">
            <a:avLst/>
          </a:prstGeom>
          <a:noFill/>
          <a:ln w="9525">
            <a:solidFill>
              <a:srgbClr val="D8D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take-vertical-2">
            <a:extLst>
              <a:ext uri="{FF2B5EF4-FFF2-40B4-BE49-F238E27FC236}">
                <a16:creationId xmlns:a16="http://schemas.microsoft.com/office/drawing/2014/main" id="{6B5A87AC-87CD-48E4-9F33-9BA3A7D9EA2F}"/>
              </a:ext>
            </a:extLst>
          </p:cNvPr>
          <p:cNvSpPr>
            <a:spLocks noGrp="1"/>
          </p:cNvSpPr>
          <p:nvPr/>
        </p:nvSpPr>
        <p:spPr>
          <a:xfrm>
            <a:off x="7677150" y="1962150"/>
            <a:ext cx="0" cy="3333750"/>
          </a:xfrm>
          <a:prstGeom prst="line">
            <a:avLst/>
          </a:prstGeom>
          <a:noFill/>
          <a:ln w="9525">
            <a:solidFill>
              <a:srgbClr val="D8D0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take-num-0">
            <a:extLst>
              <a:ext uri="{FF2B5EF4-FFF2-40B4-BE49-F238E27FC236}">
                <a16:creationId xmlns:a16="http://schemas.microsoft.com/office/drawing/2014/main" id="{9F8F8745-2760-4776-8C8B-D3C916370A7D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F07B57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07B57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stake-who-0">
            <a:extLst>
              <a:ext uri="{FF2B5EF4-FFF2-40B4-BE49-F238E27FC236}">
                <a16:creationId xmlns:a16="http://schemas.microsoft.com/office/drawing/2014/main" id="{41B8969B-961A-47AE-A4A2-978AEC52C6FB}"/>
              </a:ext>
            </a:extLst>
          </p:cNvPr>
          <p:cNvSpPr>
            <a:spLocks noGrp="1"/>
          </p:cNvSpPr>
          <p:nvPr/>
        </p:nvSpPr>
        <p:spPr>
          <a:xfrm>
            <a:off x="685800" y="24193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시니어 사용자</a:t>
            </a:r>
          </a:p>
        </p:txBody>
      </p:sp>
      <p:sp>
        <p:nvSpPr>
          <p:cNvPr id="8" name="stake-key-0">
            <a:extLst>
              <a:ext uri="{FF2B5EF4-FFF2-40B4-BE49-F238E27FC236}">
                <a16:creationId xmlns:a16="http://schemas.microsoft.com/office/drawing/2014/main" id="{32373393-BA45-432C-B3E5-9D44CA74A749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304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412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412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독립성</a:t>
            </a:r>
          </a:p>
        </p:txBody>
      </p:sp>
      <p:sp>
        <p:nvSpPr>
          <p:cNvPr id="9" name="stake-rule-0">
            <a:extLst>
              <a:ext uri="{FF2B5EF4-FFF2-40B4-BE49-F238E27FC236}">
                <a16:creationId xmlns:a16="http://schemas.microsoft.com/office/drawing/2014/main" id="{91E01F7D-0463-402F-9A1E-A462BFA1D3B2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723900" cy="0"/>
          </a:xfrm>
          <a:prstGeom prst="line">
            <a:avLst/>
          </a:prstGeom>
          <a:noFill/>
          <a:ln w="38100">
            <a:solidFill>
              <a:srgbClr val="F07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take-body-0">
            <a:extLst>
              <a:ext uri="{FF2B5EF4-FFF2-40B4-BE49-F238E27FC236}">
                <a16:creationId xmlns:a16="http://schemas.microsoft.com/office/drawing/2014/main" id="{84699ABC-18B4-44E7-BFAD-337491DBB4E8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3048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7362D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복잡한 메뉴 탐색을 반복하지 않고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7362D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익숙한 조합을 바로 불러옵니다.</a:t>
            </a:r>
          </a:p>
        </p:txBody>
      </p:sp>
      <p:sp>
        <p:nvSpPr>
          <p:cNvPr id="11" name="stake-num-1">
            <a:extLst>
              <a:ext uri="{FF2B5EF4-FFF2-40B4-BE49-F238E27FC236}">
                <a16:creationId xmlns:a16="http://schemas.microsoft.com/office/drawing/2014/main" id="{D8E9921B-9E13-4BEB-81A7-9F19E0B932D3}"/>
              </a:ext>
            </a:extLst>
          </p:cNvPr>
          <p:cNvSpPr>
            <a:spLocks noGrp="1"/>
          </p:cNvSpPr>
          <p:nvPr/>
        </p:nvSpPr>
        <p:spPr>
          <a:xfrm>
            <a:off x="4324350" y="19621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F07B57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07B57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2" name="stake-who-1">
            <a:extLst>
              <a:ext uri="{FF2B5EF4-FFF2-40B4-BE49-F238E27FC236}">
                <a16:creationId xmlns:a16="http://schemas.microsoft.com/office/drawing/2014/main" id="{CCD163B9-2F4B-4357-84A3-DF02DCD208B8}"/>
              </a:ext>
            </a:extLst>
          </p:cNvPr>
          <p:cNvSpPr>
            <a:spLocks noGrp="1"/>
          </p:cNvSpPr>
          <p:nvPr/>
        </p:nvSpPr>
        <p:spPr>
          <a:xfrm>
            <a:off x="4324350" y="24193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가족</a:t>
            </a:r>
          </a:p>
        </p:txBody>
      </p:sp>
      <p:sp>
        <p:nvSpPr>
          <p:cNvPr id="13" name="stake-key-1">
            <a:extLst>
              <a:ext uri="{FF2B5EF4-FFF2-40B4-BE49-F238E27FC236}">
                <a16:creationId xmlns:a16="http://schemas.microsoft.com/office/drawing/2014/main" id="{A866747B-6B0B-464F-87A8-1750E63C40FD}"/>
              </a:ext>
            </a:extLst>
          </p:cNvPr>
          <p:cNvSpPr>
            <a:spLocks noGrp="1"/>
          </p:cNvSpPr>
          <p:nvPr/>
        </p:nvSpPr>
        <p:spPr>
          <a:xfrm>
            <a:off x="4324350" y="2952750"/>
            <a:ext cx="304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412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412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안심</a:t>
            </a:r>
          </a:p>
        </p:txBody>
      </p:sp>
      <p:sp>
        <p:nvSpPr>
          <p:cNvPr id="14" name="stake-rule-1">
            <a:extLst>
              <a:ext uri="{FF2B5EF4-FFF2-40B4-BE49-F238E27FC236}">
                <a16:creationId xmlns:a16="http://schemas.microsoft.com/office/drawing/2014/main" id="{AE391687-410A-4C83-8B39-64C02AA79E34}"/>
              </a:ext>
            </a:extLst>
          </p:cNvPr>
          <p:cNvSpPr>
            <a:spLocks noGrp="1"/>
          </p:cNvSpPr>
          <p:nvPr/>
        </p:nvSpPr>
        <p:spPr>
          <a:xfrm>
            <a:off x="4324350" y="3886200"/>
            <a:ext cx="723900" cy="0"/>
          </a:xfrm>
          <a:prstGeom prst="line">
            <a:avLst/>
          </a:prstGeom>
          <a:noFill/>
          <a:ln w="38100">
            <a:solidFill>
              <a:srgbClr val="F07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take-body-1">
            <a:extLst>
              <a:ext uri="{FF2B5EF4-FFF2-40B4-BE49-F238E27FC236}">
                <a16:creationId xmlns:a16="http://schemas.microsoft.com/office/drawing/2014/main" id="{B9F7B7CC-6934-45A6-9FF6-27B3D842AFD4}"/>
              </a:ext>
            </a:extLst>
          </p:cNvPr>
          <p:cNvSpPr>
            <a:spLocks noGrp="1"/>
          </p:cNvSpPr>
          <p:nvPr/>
        </p:nvSpPr>
        <p:spPr>
          <a:xfrm>
            <a:off x="4324350" y="4191000"/>
            <a:ext cx="3048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7362D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자주 먹는 메뉴를 준비하고 공유해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7362D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현장에서의 부담을 함께 줄입니다.</a:t>
            </a:r>
          </a:p>
        </p:txBody>
      </p:sp>
      <p:sp>
        <p:nvSpPr>
          <p:cNvPr id="16" name="stake-num-2">
            <a:extLst>
              <a:ext uri="{FF2B5EF4-FFF2-40B4-BE49-F238E27FC236}">
                <a16:creationId xmlns:a16="http://schemas.microsoft.com/office/drawing/2014/main" id="{A74F395D-48B0-4D6D-A004-AEBCD54F578D}"/>
              </a:ext>
            </a:extLst>
          </p:cNvPr>
          <p:cNvSpPr>
            <a:spLocks noGrp="1"/>
          </p:cNvSpPr>
          <p:nvPr/>
        </p:nvSpPr>
        <p:spPr>
          <a:xfrm>
            <a:off x="7962900" y="19621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F07B57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07B57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stake-who-2">
            <a:extLst>
              <a:ext uri="{FF2B5EF4-FFF2-40B4-BE49-F238E27FC236}">
                <a16:creationId xmlns:a16="http://schemas.microsoft.com/office/drawing/2014/main" id="{96666F85-2B90-44C3-8957-FC14062B7898}"/>
              </a:ext>
            </a:extLst>
          </p:cNvPr>
          <p:cNvSpPr>
            <a:spLocks noGrp="1"/>
          </p:cNvSpPr>
          <p:nvPr/>
        </p:nvSpPr>
        <p:spPr>
          <a:xfrm>
            <a:off x="7962900" y="24193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브랜드·운영자</a:t>
            </a:r>
          </a:p>
        </p:txBody>
      </p:sp>
      <p:sp>
        <p:nvSpPr>
          <p:cNvPr id="18" name="stake-key-2">
            <a:extLst>
              <a:ext uri="{FF2B5EF4-FFF2-40B4-BE49-F238E27FC236}">
                <a16:creationId xmlns:a16="http://schemas.microsoft.com/office/drawing/2014/main" id="{0BACB69A-E04B-496A-AD02-A5B015DC0583}"/>
              </a:ext>
            </a:extLst>
          </p:cNvPr>
          <p:cNvSpPr>
            <a:spLocks noGrp="1"/>
          </p:cNvSpPr>
          <p:nvPr/>
        </p:nvSpPr>
        <p:spPr>
          <a:xfrm>
            <a:off x="7962900" y="2952750"/>
            <a:ext cx="304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412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412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성장</a:t>
            </a:r>
          </a:p>
        </p:txBody>
      </p:sp>
      <p:sp>
        <p:nvSpPr>
          <p:cNvPr id="19" name="stake-rule-2">
            <a:extLst>
              <a:ext uri="{FF2B5EF4-FFF2-40B4-BE49-F238E27FC236}">
                <a16:creationId xmlns:a16="http://schemas.microsoft.com/office/drawing/2014/main" id="{66BBF36D-793C-4FD2-9354-514180C48394}"/>
              </a:ext>
            </a:extLst>
          </p:cNvPr>
          <p:cNvSpPr>
            <a:spLocks noGrp="1"/>
          </p:cNvSpPr>
          <p:nvPr/>
        </p:nvSpPr>
        <p:spPr>
          <a:xfrm>
            <a:off x="7962900" y="3886200"/>
            <a:ext cx="723900" cy="0"/>
          </a:xfrm>
          <a:prstGeom prst="line">
            <a:avLst/>
          </a:prstGeom>
          <a:noFill/>
          <a:ln w="38100">
            <a:solidFill>
              <a:srgbClr val="F07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take-body-2">
            <a:extLst>
              <a:ext uri="{FF2B5EF4-FFF2-40B4-BE49-F238E27FC236}">
                <a16:creationId xmlns:a16="http://schemas.microsoft.com/office/drawing/2014/main" id="{6E0BDBC1-53C5-4475-BCC0-1B93E072D69C}"/>
              </a:ext>
            </a:extLst>
          </p:cNvPr>
          <p:cNvSpPr>
            <a:spLocks noGrp="1"/>
          </p:cNvSpPr>
          <p:nvPr/>
        </p:nvSpPr>
        <p:spPr>
          <a:xfrm>
            <a:off x="7962900" y="4191000"/>
            <a:ext cx="3048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7362D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주문 도중 이탈할 수 있는 고객에게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7362D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17362D"/>
                </a:solidFill>
                <a:latin typeface="Pretendard"/>
                <a:ea typeface="Pretendard"/>
                <a:cs typeface="Pretendard"/>
              </a:rPr>
              <a:t>더 짧은 주문 경로를 제공합니다.</a:t>
            </a:r>
          </a:p>
        </p:txBody>
      </p:sp>
      <p:sp>
        <p:nvSpPr>
          <p:cNvPr id="21" name="stake-close">
            <a:extLst>
              <a:ext uri="{FF2B5EF4-FFF2-40B4-BE49-F238E27FC236}">
                <a16:creationId xmlns:a16="http://schemas.microsoft.com/office/drawing/2014/main" id="{F4949D4E-B689-4D70-B7C8-C1C1C8913FC0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한 번 설정하고, QR 한 번으로 — 누구나 익숙한 한 끼를 스스로 주문하게 합니다.</a:t>
            </a:r>
          </a:p>
        </p:txBody>
      </p:sp>
      <p:pic>
        <p:nvPicPr>
          <p:cNvPr id="48" name="그림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6305550"/>
            <a:ext cx="266700" cy="266700"/>
          </a:xfrm>
          <a:prstGeom prst="rect">
            <a:avLst/>
          </a:prstGeom>
        </p:spPr>
      </p:pic>
      <p:sp>
        <p:nvSpPr>
          <p:cNvPr id="23" name="footer-brand-5">
            <a:extLst>
              <a:ext uri="{FF2B5EF4-FFF2-40B4-BE49-F238E27FC236}">
                <a16:creationId xmlns:a16="http://schemas.microsoft.com/office/drawing/2014/main" id="{C6DE1BC3-8B3A-4910-8D24-3C8339625B32}"/>
              </a:ext>
            </a:extLst>
          </p:cNvPr>
          <p:cNvSpPr>
            <a:spLocks noGrp="1"/>
          </p:cNvSpPr>
          <p:nvPr/>
        </p:nvSpPr>
        <p:spPr>
          <a:xfrm>
            <a:off x="1028700" y="63436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23F3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23F32"/>
                </a:solidFill>
                <a:latin typeface="Pretendard"/>
                <a:ea typeface="Pretendard"/>
                <a:cs typeface="Pretendard"/>
              </a:rPr>
              <a:t>한끼패스</a:t>
            </a:r>
          </a:p>
        </p:txBody>
      </p:sp>
      <p:sp>
        <p:nvSpPr>
          <p:cNvPr id="24" name="footer-page-5">
            <a:extLst>
              <a:ext uri="{FF2B5EF4-FFF2-40B4-BE49-F238E27FC236}">
                <a16:creationId xmlns:a16="http://schemas.microsoft.com/office/drawing/2014/main" id="{46B83B96-D9DD-4A36-B1A4-43E37D76A2E4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68756E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8756E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545869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1071</Words>
  <Application>Microsoft Macintosh PowerPoint</Application>
  <DocSecurity>0</DocSecurity>
  <PresentationFormat>와이드스크린</PresentationFormat>
  <Paragraphs>175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Pretendard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엄성현</cp:lastModifiedBy>
  <cp:revision>1</cp:revision>
  <dcterms:created xsi:type="dcterms:W3CDTF">2026-08-16T08:06:26Z</dcterms:created>
  <dcterms:modified xsi:type="dcterms:W3CDTF">2026-08-16T08:27:56Z</dcterms:modified>
</cp:coreProperties>
</file>